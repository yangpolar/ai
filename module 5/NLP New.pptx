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68"/>
  </p:notesMasterIdLst>
  <p:sldIdLst>
    <p:sldId id="256" r:id="rId2"/>
    <p:sldId id="262" r:id="rId3"/>
    <p:sldId id="264" r:id="rId4"/>
    <p:sldId id="265" r:id="rId5"/>
    <p:sldId id="266" r:id="rId6"/>
    <p:sldId id="267" r:id="rId7"/>
    <p:sldId id="269" r:id="rId8"/>
    <p:sldId id="270" r:id="rId9"/>
    <p:sldId id="329" r:id="rId10"/>
    <p:sldId id="330" r:id="rId11"/>
    <p:sldId id="263" r:id="rId12"/>
    <p:sldId id="271" r:id="rId13"/>
    <p:sldId id="272" r:id="rId14"/>
    <p:sldId id="290" r:id="rId15"/>
    <p:sldId id="291" r:id="rId16"/>
    <p:sldId id="292" r:id="rId17"/>
    <p:sldId id="293" r:id="rId18"/>
    <p:sldId id="295" r:id="rId19"/>
    <p:sldId id="294" r:id="rId20"/>
    <p:sldId id="296" r:id="rId21"/>
    <p:sldId id="297" r:id="rId22"/>
    <p:sldId id="298" r:id="rId23"/>
    <p:sldId id="299" r:id="rId24"/>
    <p:sldId id="300" r:id="rId25"/>
    <p:sldId id="301" r:id="rId26"/>
    <p:sldId id="302" r:id="rId27"/>
    <p:sldId id="303" r:id="rId28"/>
    <p:sldId id="304" r:id="rId29"/>
    <p:sldId id="305" r:id="rId30"/>
    <p:sldId id="306" r:id="rId31"/>
    <p:sldId id="307" r:id="rId32"/>
    <p:sldId id="308" r:id="rId33"/>
    <p:sldId id="309" r:id="rId34"/>
    <p:sldId id="310" r:id="rId35"/>
    <p:sldId id="311" r:id="rId36"/>
    <p:sldId id="273" r:id="rId37"/>
    <p:sldId id="274" r:id="rId38"/>
    <p:sldId id="275" r:id="rId39"/>
    <p:sldId id="276" r:id="rId40"/>
    <p:sldId id="312" r:id="rId41"/>
    <p:sldId id="314" r:id="rId42"/>
    <p:sldId id="316" r:id="rId43"/>
    <p:sldId id="315" r:id="rId44"/>
    <p:sldId id="322" r:id="rId45"/>
    <p:sldId id="323" r:id="rId46"/>
    <p:sldId id="324" r:id="rId47"/>
    <p:sldId id="325" r:id="rId48"/>
    <p:sldId id="326" r:id="rId49"/>
    <p:sldId id="327" r:id="rId50"/>
    <p:sldId id="277" r:id="rId51"/>
    <p:sldId id="278" r:id="rId52"/>
    <p:sldId id="279" r:id="rId53"/>
    <p:sldId id="280" r:id="rId54"/>
    <p:sldId id="328" r:id="rId55"/>
    <p:sldId id="281" r:id="rId56"/>
    <p:sldId id="284" r:id="rId57"/>
    <p:sldId id="285" r:id="rId58"/>
    <p:sldId id="286" r:id="rId59"/>
    <p:sldId id="287" r:id="rId60"/>
    <p:sldId id="288" r:id="rId61"/>
    <p:sldId id="289" r:id="rId62"/>
    <p:sldId id="261" r:id="rId63"/>
    <p:sldId id="257" r:id="rId64"/>
    <p:sldId id="259" r:id="rId65"/>
    <p:sldId id="258" r:id="rId66"/>
    <p:sldId id="260" r:id="rId6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30FF"/>
    <a:srgbClr val="350048"/>
    <a:srgbClr val="601700"/>
    <a:srgbClr val="F6E56A"/>
    <a:srgbClr val="FBE197"/>
    <a:srgbClr val="C125FF"/>
    <a:srgbClr val="5EEC3C"/>
    <a:srgbClr val="FFA3FF"/>
    <a:srgbClr val="FA6AF3"/>
    <a:srgbClr val="D47A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988" y="-96"/>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350B06-B074-48FC-8CFD-53D2CD8FB95F}" type="slidenum">
              <a:rPr lang="en-US" smtClean="0"/>
              <a:t>66</a:t>
            </a:fld>
            <a:endParaRPr lang="en-US"/>
          </a:p>
        </p:txBody>
      </p:sp>
    </p:spTree>
    <p:extLst>
      <p:ext uri="{BB962C8B-B14F-4D97-AF65-F5344CB8AC3E}">
        <p14:creationId xmlns:p14="http://schemas.microsoft.com/office/powerpoint/2010/main" val="1284596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709871" y="3487980"/>
            <a:ext cx="2137870" cy="1527050"/>
          </a:xfrm>
        </p:spPr>
        <p:txBody>
          <a:bodyPr>
            <a:normAutofit/>
          </a:bodyPr>
          <a:lstStyle>
            <a:lvl1pPr marL="0" indent="0" algn="l">
              <a:buNone/>
              <a:defRPr sz="2800" b="0" i="0">
                <a:solidFill>
                  <a:srgbClr val="2B30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t>
            </a:r>
          </a:p>
          <a:p>
            <a:r>
              <a:rPr lang="en-US" dirty="0"/>
              <a:t>edit Master subtitle style</a:t>
            </a:r>
          </a:p>
        </p:txBody>
      </p:sp>
      <p:sp>
        <p:nvSpPr>
          <p:cNvPr id="2" name="Title 1"/>
          <p:cNvSpPr>
            <a:spLocks noGrp="1"/>
          </p:cNvSpPr>
          <p:nvPr>
            <p:ph type="ctrTitle" hasCustomPrompt="1"/>
          </p:nvPr>
        </p:nvSpPr>
        <p:spPr>
          <a:xfrm>
            <a:off x="448964" y="3182570"/>
            <a:ext cx="6108201" cy="1221640"/>
          </a:xfrm>
          <a:noFill/>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a:t>
            </a:r>
            <a:br>
              <a:rPr lang="en-US" dirty="0"/>
            </a:br>
            <a:r>
              <a:rPr lang="en-US" dirty="0"/>
              <a:t>Master 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1670" y="739290"/>
            <a:ext cx="7940660" cy="763525"/>
          </a:xfrm>
        </p:spPr>
        <p:txBody>
          <a:bodyPr>
            <a:normAutofit/>
          </a:bodyPr>
          <a:lstStyle>
            <a:lvl1pPr algn="r">
              <a:defRPr sz="3600" baseline="0">
                <a:solidFill>
                  <a:srgbClr val="2B30FF"/>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601670" y="1502815"/>
            <a:ext cx="7940660" cy="3206806"/>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1670" y="281175"/>
            <a:ext cx="6413610" cy="916229"/>
          </a:xfrm>
          <a:noFill/>
        </p:spPr>
        <p:txBody>
          <a:bodyPr>
            <a:normAutofit/>
          </a:bodyPr>
          <a:lstStyle>
            <a:lvl1pPr algn="l">
              <a:defRPr sz="3600">
                <a:solidFill>
                  <a:srgbClr val="2B30FF"/>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601670" y="1197405"/>
            <a:ext cx="6413610" cy="3359510"/>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8965" y="739290"/>
            <a:ext cx="8093365" cy="787760"/>
          </a:xfrm>
        </p:spPr>
        <p:txBody>
          <a:bodyPr>
            <a:normAutofit/>
          </a:bodyPr>
          <a:lstStyle>
            <a:lvl1pPr algn="r">
              <a:defRPr sz="3600" baseline="0">
                <a:solidFill>
                  <a:srgbClr val="2B30FF"/>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7" y="1655520"/>
            <a:ext cx="4040188" cy="458115"/>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7" y="2113635"/>
            <a:ext cx="4040188" cy="2290575"/>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655520"/>
            <a:ext cx="4041775" cy="458115"/>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113636"/>
            <a:ext cx="4041775" cy="229057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2050"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840164" y="2769394"/>
            <a:ext cx="1463675" cy="392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1/5/2026</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deeplearning.ai/the-batch/nlp-models-get-literat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nlp/nlp-part-of-speech-default-tagging/" TargetMode="External"/><Relationship Id="rId2" Type="http://schemas.openxmlformats.org/officeDocument/2006/relationships/hyperlink" Target="https://www.geeksforgeeks.org/nlp/what-is-tokenizati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eeksforgeeks.org/nlp/subword-tokenization-in-nlp/"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www.geeksforgeeks.org/python/python-collections-module/" TargetMode="External"/><Relationship Id="rId2" Type="http://schemas.openxmlformats.org/officeDocument/2006/relationships/hyperlink" Target="https://www.geeksforgeeks.org/python/python-regex-cheat-sheet/"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machine-learning/python-pos-tagging-and-lemmatization-using-spacy/" TargetMode="External"/><Relationship Id="rId2" Type="http://schemas.openxmlformats.org/officeDocument/2006/relationships/hyperlink" Target="https://www.geeksforgeeks.org/python/NLTK-NLP/"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geeksforgeeks.org/nlp/nlp-part-of-speech-default-tagging/"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geeksforgeeks.org/python/python-lemmatization-with-nltk/" TargetMode="External"/><Relationship Id="rId2" Type="http://schemas.openxmlformats.org/officeDocument/2006/relationships/hyperlink" Target="https://www.geeksforgeeks.org/machine-learning/introduction-to-stemming/"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hyperlink" Target="https://www.geeksforgeeks.org/nlp/what-is-information-retrieval/" TargetMode="External"/><Relationship Id="rId2" Type="http://schemas.openxmlformats.org/officeDocument/2006/relationships/hyperlink" Target="https://www.geeksforgeeks.org/nlp/text-classification-using-scikit-learn-in-nlp/" TargetMode="External"/><Relationship Id="rId1" Type="http://schemas.openxmlformats.org/officeDocument/2006/relationships/slideLayout" Target="../slideLayouts/slideLayout2.xml"/><Relationship Id="rId4" Type="http://schemas.openxmlformats.org/officeDocument/2006/relationships/hyperlink" Target="https://www.geeksforgeeks.org/nlp/text-summarization-in-nlp/" TargetMode="Externa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geeksforgeeks.org/nlp/nlp-part-of-speech-default-tagging/" TargetMode="External"/><Relationship Id="rId2" Type="http://schemas.openxmlformats.org/officeDocument/2006/relationships/hyperlink" Target="https://www.geeksforgeeks.org/machine-learning/introduction-to-stemming/" TargetMode="Externa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hyperlink" Target="https://www.geeksforgeeks.org/nlp/understanding-semantic-analysis-nlp/"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55770" y="4251505"/>
            <a:ext cx="2586835" cy="763525"/>
          </a:xfrm>
        </p:spPr>
        <p:txBody>
          <a:bodyPr>
            <a:normAutofit/>
          </a:bodyPr>
          <a:lstStyle/>
          <a:p>
            <a:r>
              <a:rPr lang="en-US" sz="2000" dirty="0"/>
              <a:t>Dr. Rakhee Chhibber </a:t>
            </a:r>
          </a:p>
          <a:p>
            <a:r>
              <a:rPr lang="en-US" sz="2000" dirty="0"/>
              <a:t>HCLTECH</a:t>
            </a:r>
          </a:p>
        </p:txBody>
      </p:sp>
      <p:sp>
        <p:nvSpPr>
          <p:cNvPr id="2" name="Title 1"/>
          <p:cNvSpPr>
            <a:spLocks noGrp="1"/>
          </p:cNvSpPr>
          <p:nvPr>
            <p:ph type="ctrTitle"/>
          </p:nvPr>
        </p:nvSpPr>
        <p:spPr>
          <a:xfrm>
            <a:off x="601669" y="3341298"/>
            <a:ext cx="6108201" cy="1221640"/>
          </a:xfrm>
        </p:spPr>
        <p:txBody>
          <a:bodyPr>
            <a:normAutofit/>
          </a:bodyPr>
          <a:lstStyle/>
          <a:p>
            <a:r>
              <a:rPr lang="en-US" dirty="0"/>
              <a:t>Natural Language Processing</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3ECD3-1DAC-4FA2-D958-F093EDB56E56}"/>
              </a:ext>
            </a:extLst>
          </p:cNvPr>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1FC88F82-8243-32CC-29B2-CB695D1D4AC0}"/>
              </a:ext>
            </a:extLst>
          </p:cNvPr>
          <p:cNvSpPr>
            <a:spLocks noGrp="1"/>
          </p:cNvSpPr>
          <p:nvPr>
            <p:ph idx="1"/>
          </p:nvPr>
        </p:nvSpPr>
        <p:spPr/>
        <p:txBody>
          <a:bodyPr>
            <a:normAutofit fontScale="77500" lnSpcReduction="20000"/>
          </a:bodyPr>
          <a:lstStyle/>
          <a:p>
            <a:pPr marL="0" indent="0" algn="just">
              <a:buNone/>
            </a:pPr>
            <a:r>
              <a:rPr lang="en-US" dirty="0"/>
              <a:t>NLP is one of the hottest areas of AI like text generators that compose coherent essays, chatbots that fool people into thinking they’re sentient, and text-to-image programs that produce photorealistic images of anything you can describe. </a:t>
            </a:r>
          </a:p>
          <a:p>
            <a:pPr marL="0" indent="0" algn="just">
              <a:buNone/>
            </a:pPr>
            <a:r>
              <a:rPr lang="en-US" dirty="0"/>
              <a:t>Recent years have brought a </a:t>
            </a:r>
            <a:r>
              <a:rPr lang="en-US" dirty="0">
                <a:hlinkClick r:id="rId2"/>
              </a:rPr>
              <a:t>revolution</a:t>
            </a:r>
            <a:r>
              <a:rPr lang="en-US" dirty="0"/>
              <a:t> in the ability of computers to understand human languages, programming languages, and even biological and chemical sequences, such as DNA and protein structures, that resemble language. The latest AI models are unlocking these areas to analyze the meanings of input text and generate meaningful, expressive output.</a:t>
            </a:r>
          </a:p>
          <a:p>
            <a:endParaRPr lang="en-US" dirty="0"/>
          </a:p>
        </p:txBody>
      </p:sp>
    </p:spTree>
    <p:extLst>
      <p:ext uri="{BB962C8B-B14F-4D97-AF65-F5344CB8AC3E}">
        <p14:creationId xmlns:p14="http://schemas.microsoft.com/office/powerpoint/2010/main" val="1225818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C37D0-9576-A99A-8913-D5911F6725DA}"/>
              </a:ext>
            </a:extLst>
          </p:cNvPr>
          <p:cNvSpPr>
            <a:spLocks noGrp="1"/>
          </p:cNvSpPr>
          <p:nvPr>
            <p:ph type="title"/>
          </p:nvPr>
        </p:nvSpPr>
        <p:spPr/>
        <p:txBody>
          <a:bodyPr/>
          <a:lstStyle/>
          <a:p>
            <a:r>
              <a:rPr lang="en-US" dirty="0"/>
              <a:t>Components of NLP</a:t>
            </a:r>
          </a:p>
        </p:txBody>
      </p:sp>
      <p:sp>
        <p:nvSpPr>
          <p:cNvPr id="3" name="Content Placeholder 2">
            <a:extLst>
              <a:ext uri="{FF2B5EF4-FFF2-40B4-BE49-F238E27FC236}">
                <a16:creationId xmlns:a16="http://schemas.microsoft.com/office/drawing/2014/main" id="{FDB5E67B-41B7-55D4-FDCA-B85663EB4B8E}"/>
              </a:ext>
            </a:extLst>
          </p:cNvPr>
          <p:cNvSpPr>
            <a:spLocks noGrp="1"/>
          </p:cNvSpPr>
          <p:nvPr>
            <p:ph idx="1"/>
          </p:nvPr>
        </p:nvSpPr>
        <p:spPr>
          <a:xfrm>
            <a:off x="380828" y="1655520"/>
            <a:ext cx="6108200" cy="3206806"/>
          </a:xfrm>
        </p:spPr>
        <p:txBody>
          <a:bodyPr/>
          <a:lstStyle/>
          <a:p>
            <a:r>
              <a:rPr lang="en-US" b="1" dirty="0"/>
              <a:t>Natural Language Understanding</a:t>
            </a:r>
            <a:endParaRPr lang="en-US" dirty="0"/>
          </a:p>
          <a:p>
            <a:r>
              <a:rPr lang="en-US" b="1" dirty="0"/>
              <a:t>Natural Language Generation</a:t>
            </a:r>
            <a:endParaRPr lang="en-US" dirty="0"/>
          </a:p>
          <a:p>
            <a:endParaRPr lang="en-US" dirty="0"/>
          </a:p>
        </p:txBody>
      </p:sp>
      <p:pic>
        <p:nvPicPr>
          <p:cNvPr id="2050" name="Picture 2" descr="Natural Language Processing">
            <a:extLst>
              <a:ext uri="{FF2B5EF4-FFF2-40B4-BE49-F238E27FC236}">
                <a16:creationId xmlns:a16="http://schemas.microsoft.com/office/drawing/2014/main" id="{26240839-E376-E5FC-4EDF-E8F6E201A9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8046" y="2694921"/>
            <a:ext cx="4681963" cy="2282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771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355F0-BC81-E84B-8363-110ABA4CE3CA}"/>
              </a:ext>
            </a:extLst>
          </p:cNvPr>
          <p:cNvSpPr>
            <a:spLocks noGrp="1"/>
          </p:cNvSpPr>
          <p:nvPr>
            <p:ph type="title"/>
          </p:nvPr>
        </p:nvSpPr>
        <p:spPr/>
        <p:txBody>
          <a:bodyPr>
            <a:normAutofit/>
          </a:bodyPr>
          <a:lstStyle/>
          <a:p>
            <a:r>
              <a:rPr lang="en-US" b="1" dirty="0">
                <a:effectLst/>
              </a:rPr>
              <a:t>Natural Language Understanding</a:t>
            </a:r>
            <a:endParaRPr lang="en-US" dirty="0"/>
          </a:p>
        </p:txBody>
      </p:sp>
      <p:sp>
        <p:nvSpPr>
          <p:cNvPr id="3" name="Content Placeholder 2">
            <a:extLst>
              <a:ext uri="{FF2B5EF4-FFF2-40B4-BE49-F238E27FC236}">
                <a16:creationId xmlns:a16="http://schemas.microsoft.com/office/drawing/2014/main" id="{AF703829-86BC-E1D6-1FB9-F0B94C939A31}"/>
              </a:ext>
            </a:extLst>
          </p:cNvPr>
          <p:cNvSpPr>
            <a:spLocks noGrp="1"/>
          </p:cNvSpPr>
          <p:nvPr>
            <p:ph idx="1"/>
          </p:nvPr>
        </p:nvSpPr>
        <p:spPr/>
        <p:txBody>
          <a:bodyPr/>
          <a:lstStyle/>
          <a:p>
            <a:r>
              <a:rPr lang="en-US" dirty="0"/>
              <a:t>Natural Language Understanding (NLU) helps the machine to understand and analyze human language by extracting the text from large data such as keywords, emotions, relations, and semantics, etc.</a:t>
            </a:r>
          </a:p>
        </p:txBody>
      </p:sp>
    </p:spTree>
    <p:extLst>
      <p:ext uri="{BB962C8B-B14F-4D97-AF65-F5344CB8AC3E}">
        <p14:creationId xmlns:p14="http://schemas.microsoft.com/office/powerpoint/2010/main" val="4115015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BB981-668C-45CB-BD7A-D2FCA85BC186}"/>
              </a:ext>
            </a:extLst>
          </p:cNvPr>
          <p:cNvSpPr>
            <a:spLocks noGrp="1"/>
          </p:cNvSpPr>
          <p:nvPr>
            <p:ph type="title"/>
          </p:nvPr>
        </p:nvSpPr>
        <p:spPr/>
        <p:txBody>
          <a:bodyPr/>
          <a:lstStyle/>
          <a:p>
            <a:r>
              <a:rPr lang="en-US" dirty="0"/>
              <a:t>Challenges for NLU</a:t>
            </a:r>
          </a:p>
        </p:txBody>
      </p:sp>
      <p:sp>
        <p:nvSpPr>
          <p:cNvPr id="3" name="Content Placeholder 2">
            <a:extLst>
              <a:ext uri="{FF2B5EF4-FFF2-40B4-BE49-F238E27FC236}">
                <a16:creationId xmlns:a16="http://schemas.microsoft.com/office/drawing/2014/main" id="{C2D8F7B5-42F6-CBF6-2C7A-A49A5BDDF71D}"/>
              </a:ext>
            </a:extLst>
          </p:cNvPr>
          <p:cNvSpPr>
            <a:spLocks noGrp="1"/>
          </p:cNvSpPr>
          <p:nvPr>
            <p:ph idx="1"/>
          </p:nvPr>
        </p:nvSpPr>
        <p:spPr/>
        <p:txBody>
          <a:bodyPr/>
          <a:lstStyle/>
          <a:p>
            <a:r>
              <a:rPr lang="en-US" b="1" dirty="0"/>
              <a:t>Lexical Ambiguity</a:t>
            </a:r>
          </a:p>
          <a:p>
            <a:r>
              <a:rPr lang="en-US" b="1" dirty="0"/>
              <a:t>Syntactical Ambiguity</a:t>
            </a:r>
          </a:p>
        </p:txBody>
      </p:sp>
    </p:spTree>
    <p:extLst>
      <p:ext uri="{BB962C8B-B14F-4D97-AF65-F5344CB8AC3E}">
        <p14:creationId xmlns:p14="http://schemas.microsoft.com/office/powerpoint/2010/main" val="3001413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017FE-2940-82BE-78E2-77299BA8112D}"/>
              </a:ext>
            </a:extLst>
          </p:cNvPr>
          <p:cNvSpPr>
            <a:spLocks noGrp="1"/>
          </p:cNvSpPr>
          <p:nvPr>
            <p:ph type="title"/>
          </p:nvPr>
        </p:nvSpPr>
        <p:spPr/>
        <p:txBody>
          <a:bodyPr>
            <a:normAutofit/>
          </a:bodyPr>
          <a:lstStyle/>
          <a:p>
            <a:r>
              <a:rPr lang="en-US" b="1" dirty="0"/>
              <a:t>Lexical Ambiguity</a:t>
            </a:r>
            <a:endParaRPr lang="en-US" dirty="0"/>
          </a:p>
        </p:txBody>
      </p:sp>
      <p:sp>
        <p:nvSpPr>
          <p:cNvPr id="3" name="Content Placeholder 2">
            <a:extLst>
              <a:ext uri="{FF2B5EF4-FFF2-40B4-BE49-F238E27FC236}">
                <a16:creationId xmlns:a16="http://schemas.microsoft.com/office/drawing/2014/main" id="{03CED0EE-C904-7F4D-A6BD-3B394F7411C3}"/>
              </a:ext>
            </a:extLst>
          </p:cNvPr>
          <p:cNvSpPr>
            <a:spLocks noGrp="1"/>
          </p:cNvSpPr>
          <p:nvPr>
            <p:ph idx="1"/>
          </p:nvPr>
        </p:nvSpPr>
        <p:spPr/>
        <p:txBody>
          <a:bodyPr>
            <a:normAutofit lnSpcReduction="10000"/>
          </a:bodyPr>
          <a:lstStyle/>
          <a:p>
            <a:pPr marL="0" indent="0">
              <a:buNone/>
            </a:pPr>
            <a:r>
              <a:rPr lang="en-US" dirty="0"/>
              <a:t>It happens when a word has different meanings. Lexical ambiguity can be resolved by using parts-of-speech (POS)tagging techniques.</a:t>
            </a:r>
          </a:p>
          <a:p>
            <a:pPr marL="0" indent="0">
              <a:buNone/>
            </a:pPr>
            <a:r>
              <a:rPr lang="en-US" i="1" dirty="0"/>
              <a:t>For Example:-</a:t>
            </a:r>
            <a:endParaRPr lang="en-US" dirty="0"/>
          </a:p>
          <a:p>
            <a:pPr marL="0" indent="0">
              <a:buNone/>
            </a:pPr>
            <a:r>
              <a:rPr lang="en-US" i="1" dirty="0"/>
              <a:t>He is looking for a </a:t>
            </a:r>
            <a:r>
              <a:rPr lang="en-US" i="1" u="sng" dirty="0"/>
              <a:t>match</a:t>
            </a:r>
            <a:r>
              <a:rPr lang="en-US" i="1" dirty="0"/>
              <a:t>.</a:t>
            </a:r>
            <a:endParaRPr lang="en-US" dirty="0"/>
          </a:p>
          <a:p>
            <a:pPr marL="0" indent="0">
              <a:buNone/>
            </a:pPr>
            <a:r>
              <a:rPr lang="en-US" dirty="0"/>
              <a:t>What do you understand by the ‘match’ keyword? Does it partner or cricket or football or anything else?</a:t>
            </a:r>
          </a:p>
          <a:p>
            <a:pPr marL="0" indent="0">
              <a:buNone/>
            </a:pPr>
            <a:endParaRPr lang="en-US" dirty="0"/>
          </a:p>
        </p:txBody>
      </p:sp>
    </p:spTree>
    <p:extLst>
      <p:ext uri="{BB962C8B-B14F-4D97-AF65-F5344CB8AC3E}">
        <p14:creationId xmlns:p14="http://schemas.microsoft.com/office/powerpoint/2010/main" val="425784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C2E98-9145-C2BD-DAE1-7FDFAAF3C81B}"/>
              </a:ext>
            </a:extLst>
          </p:cNvPr>
          <p:cNvSpPr>
            <a:spLocks noGrp="1"/>
          </p:cNvSpPr>
          <p:nvPr>
            <p:ph type="title"/>
          </p:nvPr>
        </p:nvSpPr>
        <p:spPr/>
        <p:txBody>
          <a:bodyPr>
            <a:normAutofit/>
          </a:bodyPr>
          <a:lstStyle/>
          <a:p>
            <a:r>
              <a:rPr lang="en-US" b="1" dirty="0"/>
              <a:t>Syntactical Ambiguity</a:t>
            </a:r>
            <a:endParaRPr lang="en-US" dirty="0"/>
          </a:p>
        </p:txBody>
      </p:sp>
      <p:sp>
        <p:nvSpPr>
          <p:cNvPr id="3" name="Content Placeholder 2">
            <a:extLst>
              <a:ext uri="{FF2B5EF4-FFF2-40B4-BE49-F238E27FC236}">
                <a16:creationId xmlns:a16="http://schemas.microsoft.com/office/drawing/2014/main" id="{F15989D3-7449-3483-ADB8-DE24A30F413D}"/>
              </a:ext>
            </a:extLst>
          </p:cNvPr>
          <p:cNvSpPr>
            <a:spLocks noGrp="1"/>
          </p:cNvSpPr>
          <p:nvPr>
            <p:ph idx="1"/>
          </p:nvPr>
        </p:nvSpPr>
        <p:spPr/>
        <p:txBody>
          <a:bodyPr>
            <a:normAutofit fontScale="92500" lnSpcReduction="20000"/>
          </a:bodyPr>
          <a:lstStyle/>
          <a:p>
            <a:pPr marL="0" indent="0">
              <a:buNone/>
            </a:pPr>
            <a:r>
              <a:rPr lang="en-US" dirty="0"/>
              <a:t>This means when we see more meanings in a sequence of words and also Called Grammatical Ambiguity</a:t>
            </a:r>
          </a:p>
          <a:p>
            <a:pPr marL="0" indent="0">
              <a:buNone/>
            </a:pPr>
            <a:r>
              <a:rPr lang="en-US" i="1" dirty="0"/>
              <a:t>For Example </a:t>
            </a:r>
          </a:p>
          <a:p>
            <a:pPr marL="0" indent="0">
              <a:buNone/>
            </a:pPr>
            <a:r>
              <a:rPr lang="en-US" i="1" dirty="0"/>
              <a:t>The Fish </a:t>
            </a:r>
            <a:r>
              <a:rPr lang="en-US" i="1" u="sng" dirty="0"/>
              <a:t>is ready</a:t>
            </a:r>
            <a:r>
              <a:rPr lang="en-US" i="1" dirty="0"/>
              <a:t> to eat.</a:t>
            </a:r>
            <a:endParaRPr lang="en-US" dirty="0"/>
          </a:p>
          <a:p>
            <a:pPr marL="0" indent="0">
              <a:buNone/>
            </a:pPr>
            <a:endParaRPr lang="en-US" dirty="0"/>
          </a:p>
          <a:p>
            <a:pPr marL="0" indent="0">
              <a:buNone/>
            </a:pPr>
            <a:r>
              <a:rPr lang="en-US" dirty="0"/>
              <a:t>What do you understand by the above example? Is the fish ready to eat his/her food or fish is ready for someone to eat? Got confused!! Right?</a:t>
            </a:r>
          </a:p>
          <a:p>
            <a:pPr marL="0" indent="0">
              <a:buNone/>
            </a:pPr>
            <a:endParaRPr lang="en-US" dirty="0"/>
          </a:p>
        </p:txBody>
      </p:sp>
    </p:spTree>
    <p:extLst>
      <p:ext uri="{BB962C8B-B14F-4D97-AF65-F5344CB8AC3E}">
        <p14:creationId xmlns:p14="http://schemas.microsoft.com/office/powerpoint/2010/main" val="3313252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8E1F-FB11-9069-1DA8-8F2BEB474E3A}"/>
              </a:ext>
            </a:extLst>
          </p:cNvPr>
          <p:cNvSpPr>
            <a:spLocks noGrp="1"/>
          </p:cNvSpPr>
          <p:nvPr>
            <p:ph type="title"/>
          </p:nvPr>
        </p:nvSpPr>
        <p:spPr/>
        <p:txBody>
          <a:bodyPr>
            <a:normAutofit/>
          </a:bodyPr>
          <a:lstStyle/>
          <a:p>
            <a:r>
              <a:rPr lang="en-US" b="1" dirty="0">
                <a:effectLst/>
              </a:rPr>
              <a:t>Natural Language Generation</a:t>
            </a:r>
            <a:endParaRPr lang="en-US" dirty="0"/>
          </a:p>
        </p:txBody>
      </p:sp>
      <p:sp>
        <p:nvSpPr>
          <p:cNvPr id="3" name="Content Placeholder 2">
            <a:extLst>
              <a:ext uri="{FF2B5EF4-FFF2-40B4-BE49-F238E27FC236}">
                <a16:creationId xmlns:a16="http://schemas.microsoft.com/office/drawing/2014/main" id="{E506A463-B9BB-F8FA-5197-BF39E65FA545}"/>
              </a:ext>
            </a:extLst>
          </p:cNvPr>
          <p:cNvSpPr>
            <a:spLocks noGrp="1"/>
          </p:cNvSpPr>
          <p:nvPr>
            <p:ph idx="1"/>
          </p:nvPr>
        </p:nvSpPr>
        <p:spPr/>
        <p:txBody>
          <a:bodyPr>
            <a:normAutofit fontScale="92500"/>
          </a:bodyPr>
          <a:lstStyle/>
          <a:p>
            <a:pPr marL="0" indent="0">
              <a:buNone/>
            </a:pPr>
            <a:r>
              <a:rPr lang="en-US" dirty="0"/>
              <a:t>It is the process of extracting meaningful insights as phrases and sentences in the form of natural language.</a:t>
            </a:r>
          </a:p>
          <a:p>
            <a:pPr marL="0" indent="0">
              <a:buNone/>
            </a:pPr>
            <a:r>
              <a:rPr lang="en-US" dirty="0"/>
              <a:t>It consists −</a:t>
            </a:r>
          </a:p>
          <a:p>
            <a:r>
              <a:rPr lang="en-US" b="1" dirty="0"/>
              <a:t>Text planning −</a:t>
            </a:r>
            <a:r>
              <a:rPr lang="en-US" dirty="0"/>
              <a:t> It includes retrieving the relevant data from the domain.</a:t>
            </a:r>
          </a:p>
          <a:p>
            <a:r>
              <a:rPr lang="en-US" b="1" dirty="0"/>
              <a:t>Sentence planning −</a:t>
            </a:r>
            <a:r>
              <a:rPr lang="en-US" dirty="0"/>
              <a:t> It is nothing but a selection of important words, meaningful phrases, or sentences. </a:t>
            </a:r>
          </a:p>
          <a:p>
            <a:endParaRPr lang="en-US" dirty="0"/>
          </a:p>
        </p:txBody>
      </p:sp>
    </p:spTree>
    <p:extLst>
      <p:ext uri="{BB962C8B-B14F-4D97-AF65-F5344CB8AC3E}">
        <p14:creationId xmlns:p14="http://schemas.microsoft.com/office/powerpoint/2010/main" val="3541431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24054A-3EB5-2238-34D1-6FB7246F4150}"/>
              </a:ext>
            </a:extLst>
          </p:cNvPr>
          <p:cNvPicPr>
            <a:picLocks noChangeAspect="1"/>
          </p:cNvPicPr>
          <p:nvPr/>
        </p:nvPicPr>
        <p:blipFill>
          <a:blip r:embed="rId2"/>
          <a:stretch>
            <a:fillRect/>
          </a:stretch>
        </p:blipFill>
        <p:spPr>
          <a:xfrm>
            <a:off x="1212490" y="891995"/>
            <a:ext cx="7177135" cy="4115932"/>
          </a:xfrm>
          <a:prstGeom prst="rect">
            <a:avLst/>
          </a:prstGeom>
        </p:spPr>
      </p:pic>
    </p:spTree>
    <p:extLst>
      <p:ext uri="{BB962C8B-B14F-4D97-AF65-F5344CB8AC3E}">
        <p14:creationId xmlns:p14="http://schemas.microsoft.com/office/powerpoint/2010/main" val="3370688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1BA8E9-B974-76F6-4B31-D4C7D5CCD67F}"/>
              </a:ext>
            </a:extLst>
          </p:cNvPr>
          <p:cNvPicPr>
            <a:picLocks noChangeAspect="1"/>
          </p:cNvPicPr>
          <p:nvPr/>
        </p:nvPicPr>
        <p:blipFill>
          <a:blip r:embed="rId2"/>
          <a:stretch>
            <a:fillRect/>
          </a:stretch>
        </p:blipFill>
        <p:spPr>
          <a:xfrm>
            <a:off x="0" y="1808225"/>
            <a:ext cx="9144000" cy="2158061"/>
          </a:xfrm>
          <a:prstGeom prst="rect">
            <a:avLst/>
          </a:prstGeom>
        </p:spPr>
      </p:pic>
    </p:spTree>
    <p:extLst>
      <p:ext uri="{BB962C8B-B14F-4D97-AF65-F5344CB8AC3E}">
        <p14:creationId xmlns:p14="http://schemas.microsoft.com/office/powerpoint/2010/main" val="1481351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4" name="Rectangle 103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63154" y="1063154"/>
            <a:ext cx="5156864"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Rectangle 103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8871" y="1995355"/>
            <a:ext cx="3266696"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885662" y="1228564"/>
            <a:ext cx="5143179"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9" name="Freeform: Shape 103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560516" y="900984"/>
            <a:ext cx="3606227"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BE45B04-1E67-31E5-623F-EC93C7F138BD}"/>
              </a:ext>
            </a:extLst>
          </p:cNvPr>
          <p:cNvSpPr>
            <a:spLocks noGrp="1"/>
          </p:cNvSpPr>
          <p:nvPr>
            <p:ph type="title"/>
          </p:nvPr>
        </p:nvSpPr>
        <p:spPr>
          <a:xfrm>
            <a:off x="495030" y="2075329"/>
            <a:ext cx="2160621" cy="2303930"/>
          </a:xfrm>
        </p:spPr>
        <p:txBody>
          <a:bodyPr vert="horz" lIns="91440" tIns="45720" rIns="91440" bIns="45720" rtlCol="0" anchor="t">
            <a:normAutofit/>
          </a:bodyPr>
          <a:lstStyle/>
          <a:p>
            <a:pPr algn="l">
              <a:lnSpc>
                <a:spcPct val="90000"/>
              </a:lnSpc>
            </a:pPr>
            <a:r>
              <a:rPr lang="en-US" sz="3000" kern="1200">
                <a:solidFill>
                  <a:srgbClr val="FFFFFF"/>
                </a:solidFill>
                <a:latin typeface="+mj-lt"/>
                <a:ea typeface="+mj-ea"/>
                <a:cs typeface="+mj-cs"/>
              </a:rPr>
              <a:t>Phases of NLP</a:t>
            </a:r>
          </a:p>
        </p:txBody>
      </p:sp>
      <p:pic>
        <p:nvPicPr>
          <p:cNvPr id="1026" name="Picture 2" descr="Natural Language Processing">
            <a:extLst>
              <a:ext uri="{FF2B5EF4-FFF2-40B4-BE49-F238E27FC236}">
                <a16:creationId xmlns:a16="http://schemas.microsoft.com/office/drawing/2014/main" id="{22BBF33B-0112-04D3-9481-65C5D7A276B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948607" y="180266"/>
            <a:ext cx="4275740" cy="4962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391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28C52-BF20-9E51-CAFA-02C7AF8170A0}"/>
              </a:ext>
            </a:extLst>
          </p:cNvPr>
          <p:cNvSpPr>
            <a:spLocks noGrp="1"/>
          </p:cNvSpPr>
          <p:nvPr>
            <p:ph type="title"/>
          </p:nvPr>
        </p:nvSpPr>
        <p:spPr/>
        <p:txBody>
          <a:bodyPr>
            <a:normAutofit/>
          </a:bodyPr>
          <a:lstStyle/>
          <a:p>
            <a:r>
              <a:rPr lang="en-US" b="1" dirty="0">
                <a:effectLst/>
              </a:rPr>
              <a:t>1. Lexical and Morphological Analysis</a:t>
            </a:r>
            <a:endParaRPr lang="en-US" dirty="0"/>
          </a:p>
        </p:txBody>
      </p:sp>
      <p:sp>
        <p:nvSpPr>
          <p:cNvPr id="3" name="Content Placeholder 2">
            <a:extLst>
              <a:ext uri="{FF2B5EF4-FFF2-40B4-BE49-F238E27FC236}">
                <a16:creationId xmlns:a16="http://schemas.microsoft.com/office/drawing/2014/main" id="{A94831F5-0E54-CE29-DC2E-E43A3AD0D57B}"/>
              </a:ext>
            </a:extLst>
          </p:cNvPr>
          <p:cNvSpPr>
            <a:spLocks noGrp="1"/>
          </p:cNvSpPr>
          <p:nvPr>
            <p:ph idx="1"/>
          </p:nvPr>
        </p:nvSpPr>
        <p:spPr/>
        <p:txBody>
          <a:bodyPr/>
          <a:lstStyle/>
          <a:p>
            <a:pPr marL="0" indent="0">
              <a:buNone/>
            </a:pPr>
            <a:r>
              <a:rPr lang="en-US" dirty="0"/>
              <a:t>Lexical Analysis - It focuses on identifying and processing words (or lexemes) in a text. It breaks down the input text into individual tokens that are meaningful units of language such as words or phrases.</a:t>
            </a:r>
          </a:p>
        </p:txBody>
      </p:sp>
    </p:spTree>
    <p:extLst>
      <p:ext uri="{BB962C8B-B14F-4D97-AF65-F5344CB8AC3E}">
        <p14:creationId xmlns:p14="http://schemas.microsoft.com/office/powerpoint/2010/main" val="4068786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D4296-8376-B607-7604-7A01824D8EC9}"/>
              </a:ext>
            </a:extLst>
          </p:cNvPr>
          <p:cNvSpPr>
            <a:spLocks noGrp="1"/>
          </p:cNvSpPr>
          <p:nvPr>
            <p:ph type="title"/>
          </p:nvPr>
        </p:nvSpPr>
        <p:spPr/>
        <p:txBody>
          <a:bodyPr/>
          <a:lstStyle/>
          <a:p>
            <a:r>
              <a:rPr lang="en-US" b="1" dirty="0">
                <a:effectLst/>
              </a:rPr>
              <a:t>Key tasks in Lexical analysis</a:t>
            </a:r>
            <a:endParaRPr lang="en-US" dirty="0"/>
          </a:p>
        </p:txBody>
      </p:sp>
      <p:sp>
        <p:nvSpPr>
          <p:cNvPr id="3" name="Content Placeholder 2">
            <a:extLst>
              <a:ext uri="{FF2B5EF4-FFF2-40B4-BE49-F238E27FC236}">
                <a16:creationId xmlns:a16="http://schemas.microsoft.com/office/drawing/2014/main" id="{31B5E426-DAD0-4D87-6A1A-BF2E0B466FF8}"/>
              </a:ext>
            </a:extLst>
          </p:cNvPr>
          <p:cNvSpPr>
            <a:spLocks noGrp="1"/>
          </p:cNvSpPr>
          <p:nvPr>
            <p:ph idx="1"/>
          </p:nvPr>
        </p:nvSpPr>
        <p:spPr/>
        <p:txBody>
          <a:bodyPr>
            <a:normAutofit fontScale="92500" lnSpcReduction="10000"/>
          </a:bodyPr>
          <a:lstStyle/>
          <a:p>
            <a:pPr fontAlgn="base"/>
            <a:r>
              <a:rPr lang="en-US" b="1" u="sng" dirty="0">
                <a:hlinkClick r:id="rId2"/>
              </a:rPr>
              <a:t>Tokenization</a:t>
            </a:r>
            <a:r>
              <a:rPr lang="en-US" dirty="0"/>
              <a:t>: Process of dividing a text into smaller chunks called tokens. For example the sentence "I love programming" would be tokenized into ["I", "love", "programming"].</a:t>
            </a:r>
          </a:p>
          <a:p>
            <a:pPr fontAlgn="base"/>
            <a:r>
              <a:rPr lang="en-US" b="1" u="sng" dirty="0">
                <a:hlinkClick r:id="rId3"/>
              </a:rPr>
              <a:t>Part-of-Speech Tagging</a:t>
            </a:r>
            <a:r>
              <a:rPr lang="en-US" b="1" dirty="0"/>
              <a:t>: </a:t>
            </a:r>
            <a:r>
              <a:rPr lang="en-US" dirty="0"/>
              <a:t>Assigning parts of speech such as noun, verb, adjective to each token in the sentence. This helps us to understand grammatical roles of words in the context.</a:t>
            </a:r>
          </a:p>
          <a:p>
            <a:endParaRPr lang="en-US" dirty="0"/>
          </a:p>
        </p:txBody>
      </p:sp>
    </p:spTree>
    <p:extLst>
      <p:ext uri="{BB962C8B-B14F-4D97-AF65-F5344CB8AC3E}">
        <p14:creationId xmlns:p14="http://schemas.microsoft.com/office/powerpoint/2010/main" val="2015302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AF9F7-0396-87D3-60CE-6EF7CEF71F0A}"/>
              </a:ext>
            </a:extLst>
          </p:cNvPr>
          <p:cNvSpPr>
            <a:spLocks noGrp="1"/>
          </p:cNvSpPr>
          <p:nvPr>
            <p:ph type="title"/>
          </p:nvPr>
        </p:nvSpPr>
        <p:spPr/>
        <p:txBody>
          <a:bodyPr>
            <a:normAutofit/>
          </a:bodyPr>
          <a:lstStyle/>
          <a:p>
            <a:r>
              <a:rPr lang="en-US" b="1" dirty="0">
                <a:effectLst/>
              </a:rPr>
              <a:t>Tokenization</a:t>
            </a:r>
            <a:endParaRPr lang="en-US" dirty="0"/>
          </a:p>
        </p:txBody>
      </p:sp>
      <p:sp>
        <p:nvSpPr>
          <p:cNvPr id="3" name="Content Placeholder 2">
            <a:extLst>
              <a:ext uri="{FF2B5EF4-FFF2-40B4-BE49-F238E27FC236}">
                <a16:creationId xmlns:a16="http://schemas.microsoft.com/office/drawing/2014/main" id="{09067C2E-721A-C635-AC5D-FB058E16D7CC}"/>
              </a:ext>
            </a:extLst>
          </p:cNvPr>
          <p:cNvSpPr>
            <a:spLocks noGrp="1"/>
          </p:cNvSpPr>
          <p:nvPr>
            <p:ph idx="1"/>
          </p:nvPr>
        </p:nvSpPr>
        <p:spPr/>
        <p:txBody>
          <a:bodyPr>
            <a:normAutofit fontScale="92500" lnSpcReduction="10000"/>
          </a:bodyPr>
          <a:lstStyle/>
          <a:p>
            <a:r>
              <a:rPr lang="en-US" dirty="0"/>
              <a:t>Tokenization is a fundamental process in Natural Language Processing (NLP) that involves breaking down a stream of text into smaller units called tokens. These tokens can range from individual characters to full words or phrases, Based on how detailed it needs to be. By converting text into these manageable chunks, machines can more effectively analyze and understand human language.</a:t>
            </a:r>
          </a:p>
        </p:txBody>
      </p:sp>
    </p:spTree>
    <p:extLst>
      <p:ext uri="{BB962C8B-B14F-4D97-AF65-F5344CB8AC3E}">
        <p14:creationId xmlns:p14="http://schemas.microsoft.com/office/powerpoint/2010/main" val="437014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A65B4A-C89E-2455-35DC-F444B1B4037A}"/>
              </a:ext>
            </a:extLst>
          </p:cNvPr>
          <p:cNvPicPr>
            <a:picLocks noChangeAspect="1"/>
          </p:cNvPicPr>
          <p:nvPr/>
        </p:nvPicPr>
        <p:blipFill>
          <a:blip r:embed="rId2"/>
          <a:stretch>
            <a:fillRect/>
          </a:stretch>
        </p:blipFill>
        <p:spPr>
          <a:xfrm>
            <a:off x="0" y="1655520"/>
            <a:ext cx="4886560" cy="2748690"/>
          </a:xfrm>
          <a:prstGeom prst="rect">
            <a:avLst/>
          </a:prstGeom>
        </p:spPr>
      </p:pic>
      <p:pic>
        <p:nvPicPr>
          <p:cNvPr id="6" name="Picture 5">
            <a:extLst>
              <a:ext uri="{FF2B5EF4-FFF2-40B4-BE49-F238E27FC236}">
                <a16:creationId xmlns:a16="http://schemas.microsoft.com/office/drawing/2014/main" id="{6B802C13-904E-22B5-1FD7-74D86915C20C}"/>
              </a:ext>
            </a:extLst>
          </p:cNvPr>
          <p:cNvPicPr>
            <a:picLocks noChangeAspect="1"/>
          </p:cNvPicPr>
          <p:nvPr/>
        </p:nvPicPr>
        <p:blipFill>
          <a:blip r:embed="rId3"/>
          <a:stretch>
            <a:fillRect/>
          </a:stretch>
        </p:blipFill>
        <p:spPr>
          <a:xfrm>
            <a:off x="5030115" y="1197405"/>
            <a:ext cx="3970330" cy="3760181"/>
          </a:xfrm>
          <a:prstGeom prst="rect">
            <a:avLst/>
          </a:prstGeom>
        </p:spPr>
      </p:pic>
    </p:spTree>
    <p:extLst>
      <p:ext uri="{BB962C8B-B14F-4D97-AF65-F5344CB8AC3E}">
        <p14:creationId xmlns:p14="http://schemas.microsoft.com/office/powerpoint/2010/main" val="3357052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1557C-26C4-8768-9F90-BA8FE6668047}"/>
              </a:ext>
            </a:extLst>
          </p:cNvPr>
          <p:cNvSpPr>
            <a:spLocks noGrp="1"/>
          </p:cNvSpPr>
          <p:nvPr>
            <p:ph type="title"/>
          </p:nvPr>
        </p:nvSpPr>
        <p:spPr/>
        <p:txBody>
          <a:bodyPr>
            <a:normAutofit/>
          </a:bodyPr>
          <a:lstStyle/>
          <a:p>
            <a:r>
              <a:rPr lang="en-US" b="1" dirty="0">
                <a:effectLst/>
              </a:rPr>
              <a:t>Tokenization Explained</a:t>
            </a:r>
            <a:endParaRPr lang="en-US" dirty="0"/>
          </a:p>
        </p:txBody>
      </p:sp>
      <p:sp>
        <p:nvSpPr>
          <p:cNvPr id="3" name="Content Placeholder 2">
            <a:extLst>
              <a:ext uri="{FF2B5EF4-FFF2-40B4-BE49-F238E27FC236}">
                <a16:creationId xmlns:a16="http://schemas.microsoft.com/office/drawing/2014/main" id="{2FFB11BB-D5DA-B000-7413-722C7DB3D226}"/>
              </a:ext>
            </a:extLst>
          </p:cNvPr>
          <p:cNvSpPr>
            <a:spLocks noGrp="1"/>
          </p:cNvSpPr>
          <p:nvPr>
            <p:ph idx="1"/>
          </p:nvPr>
        </p:nvSpPr>
        <p:spPr>
          <a:xfrm>
            <a:off x="601670" y="1502815"/>
            <a:ext cx="7940660" cy="3359510"/>
          </a:xfrm>
        </p:spPr>
        <p:txBody>
          <a:bodyPr>
            <a:normAutofit fontScale="70000" lnSpcReduction="20000"/>
          </a:bodyPr>
          <a:lstStyle/>
          <a:p>
            <a:pPr marL="0" indent="0" fontAlgn="base">
              <a:buNone/>
            </a:pPr>
            <a:r>
              <a:rPr lang="en-US" dirty="0"/>
              <a:t>Tokenization can be likened to teaching someone a new language by starting with the alphabet, then moving on to syllables, and finally to complete words and sentences. This process allows for the dissection of text into parts that are easier for machines to process. </a:t>
            </a:r>
          </a:p>
          <a:p>
            <a:pPr marL="0" indent="0" fontAlgn="base">
              <a:buNone/>
            </a:pPr>
            <a:r>
              <a:rPr lang="en-US" dirty="0"/>
              <a:t>For example, consider the sentence, "Chatbots are helpful." When tokenized by words, it becomes:</a:t>
            </a:r>
          </a:p>
          <a:p>
            <a:pPr marL="0" indent="0" fontAlgn="base">
              <a:buNone/>
            </a:pPr>
            <a:r>
              <a:rPr lang="en-US" i="1" dirty="0"/>
              <a:t>["Chatbots", "are", "helpful"]</a:t>
            </a:r>
          </a:p>
          <a:p>
            <a:pPr marL="0" indent="0" fontAlgn="base">
              <a:buNone/>
            </a:pPr>
            <a:r>
              <a:rPr lang="en-US" dirty="0"/>
              <a:t>If tokenized by characters, it becomes:</a:t>
            </a:r>
          </a:p>
          <a:p>
            <a:pPr marL="0" indent="0" fontAlgn="base">
              <a:buNone/>
            </a:pPr>
            <a:r>
              <a:rPr lang="en-US" i="1" dirty="0"/>
              <a:t>["C", "h", "a", "t", "b", "o", "t", "s", " ", "a", "r", "e", " ", "h", "e", "l", "p", "f", "u", "l"]</a:t>
            </a:r>
          </a:p>
          <a:p>
            <a:pPr marL="0" indent="0" fontAlgn="base">
              <a:buNone/>
            </a:pPr>
            <a:r>
              <a:rPr lang="en-US" dirty="0"/>
              <a:t>Each approach has its own advantages depending on the context and the specific NLP task at hand.</a:t>
            </a:r>
          </a:p>
          <a:p>
            <a:pPr marL="0" indent="0">
              <a:buNone/>
            </a:pPr>
            <a:endParaRPr lang="en-US" dirty="0"/>
          </a:p>
        </p:txBody>
      </p:sp>
    </p:spTree>
    <p:extLst>
      <p:ext uri="{BB962C8B-B14F-4D97-AF65-F5344CB8AC3E}">
        <p14:creationId xmlns:p14="http://schemas.microsoft.com/office/powerpoint/2010/main" val="3209962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7D46C-CC51-C697-C3B6-15914B7C521E}"/>
              </a:ext>
            </a:extLst>
          </p:cNvPr>
          <p:cNvSpPr>
            <a:spLocks noGrp="1"/>
          </p:cNvSpPr>
          <p:nvPr>
            <p:ph type="title"/>
          </p:nvPr>
        </p:nvSpPr>
        <p:spPr/>
        <p:txBody>
          <a:bodyPr>
            <a:normAutofit/>
          </a:bodyPr>
          <a:lstStyle/>
          <a:p>
            <a:r>
              <a:rPr lang="en-US" b="1" dirty="0">
                <a:effectLst/>
              </a:rPr>
              <a:t>Types of Tokenization</a:t>
            </a:r>
            <a:endParaRPr lang="en-US" dirty="0"/>
          </a:p>
        </p:txBody>
      </p:sp>
      <p:pic>
        <p:nvPicPr>
          <p:cNvPr id="5" name="Picture 4">
            <a:extLst>
              <a:ext uri="{FF2B5EF4-FFF2-40B4-BE49-F238E27FC236}">
                <a16:creationId xmlns:a16="http://schemas.microsoft.com/office/drawing/2014/main" id="{C248ED7F-A6A7-5E17-9E3D-BDC8AAF6BE73}"/>
              </a:ext>
            </a:extLst>
          </p:cNvPr>
          <p:cNvPicPr>
            <a:picLocks noChangeAspect="1"/>
          </p:cNvPicPr>
          <p:nvPr/>
        </p:nvPicPr>
        <p:blipFill>
          <a:blip r:embed="rId2"/>
          <a:stretch>
            <a:fillRect/>
          </a:stretch>
        </p:blipFill>
        <p:spPr>
          <a:xfrm>
            <a:off x="1059785" y="1655520"/>
            <a:ext cx="7692666" cy="3054100"/>
          </a:xfrm>
          <a:prstGeom prst="rect">
            <a:avLst/>
          </a:prstGeom>
        </p:spPr>
      </p:pic>
    </p:spTree>
    <p:extLst>
      <p:ext uri="{BB962C8B-B14F-4D97-AF65-F5344CB8AC3E}">
        <p14:creationId xmlns:p14="http://schemas.microsoft.com/office/powerpoint/2010/main" val="2573387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65D28-96B9-E33D-3095-FE9ABC7C997C}"/>
              </a:ext>
            </a:extLst>
          </p:cNvPr>
          <p:cNvSpPr>
            <a:spLocks noGrp="1"/>
          </p:cNvSpPr>
          <p:nvPr>
            <p:ph type="title"/>
          </p:nvPr>
        </p:nvSpPr>
        <p:spPr/>
        <p:txBody>
          <a:bodyPr/>
          <a:lstStyle/>
          <a:p>
            <a:r>
              <a:rPr lang="en-US" b="1" dirty="0">
                <a:effectLst/>
              </a:rPr>
              <a:t>Types of Tokenization</a:t>
            </a:r>
            <a:endParaRPr lang="en-US" dirty="0"/>
          </a:p>
        </p:txBody>
      </p:sp>
      <p:sp>
        <p:nvSpPr>
          <p:cNvPr id="3" name="Content Placeholder 2">
            <a:extLst>
              <a:ext uri="{FF2B5EF4-FFF2-40B4-BE49-F238E27FC236}">
                <a16:creationId xmlns:a16="http://schemas.microsoft.com/office/drawing/2014/main" id="{DB509AC0-0F32-124D-8B3F-1DD50E4672CB}"/>
              </a:ext>
            </a:extLst>
          </p:cNvPr>
          <p:cNvSpPr>
            <a:spLocks noGrp="1"/>
          </p:cNvSpPr>
          <p:nvPr>
            <p:ph idx="1"/>
          </p:nvPr>
        </p:nvSpPr>
        <p:spPr>
          <a:xfrm>
            <a:off x="448965" y="1655520"/>
            <a:ext cx="8246070" cy="3206805"/>
          </a:xfrm>
        </p:spPr>
        <p:txBody>
          <a:bodyPr>
            <a:normAutofit fontScale="92500" lnSpcReduction="20000"/>
          </a:bodyPr>
          <a:lstStyle/>
          <a:p>
            <a:pPr marL="0" indent="0" fontAlgn="base">
              <a:buNone/>
            </a:pPr>
            <a:r>
              <a:rPr lang="en-US" sz="1900" b="1" dirty="0">
                <a:solidFill>
                  <a:srgbClr val="2B30FF"/>
                </a:solidFill>
                <a:latin typeface="+mj-lt"/>
                <a:ea typeface="+mj-ea"/>
                <a:cs typeface="+mj-cs"/>
              </a:rPr>
              <a:t>Word Tokenization: </a:t>
            </a:r>
            <a:r>
              <a:rPr lang="en-US" sz="1900" dirty="0"/>
              <a:t>This is the most common method where text is divided into individual words. It works well for languages with clear word boundaries, like English.</a:t>
            </a:r>
          </a:p>
          <a:p>
            <a:pPr marL="0" indent="0" fontAlgn="base">
              <a:buNone/>
            </a:pPr>
            <a:r>
              <a:rPr lang="en-US" sz="1900" b="1" dirty="0">
                <a:solidFill>
                  <a:srgbClr val="2B30FF"/>
                </a:solidFill>
                <a:latin typeface="+mj-lt"/>
                <a:ea typeface="+mj-ea"/>
                <a:cs typeface="+mj-cs"/>
              </a:rPr>
              <a:t>Character Tokenization: </a:t>
            </a:r>
            <a:r>
              <a:rPr lang="en-US" sz="1900" dirty="0"/>
              <a:t>In this method, text is split into individual characters. This is particularly useful for languages without clear word boundaries or for tasks that require a detailed analysis, such as spelling correction.</a:t>
            </a:r>
          </a:p>
          <a:p>
            <a:pPr marL="0" indent="0" fontAlgn="base">
              <a:buNone/>
            </a:pPr>
            <a:r>
              <a:rPr lang="en-US" sz="1900" b="1" dirty="0">
                <a:solidFill>
                  <a:srgbClr val="2B30FF"/>
                </a:solidFill>
                <a:latin typeface="+mj-lt"/>
                <a:ea typeface="+mj-ea"/>
                <a:cs typeface="+mj-cs"/>
              </a:rPr>
              <a:t>Sub-word Tokenization: </a:t>
            </a:r>
            <a:r>
              <a:rPr lang="en-US" sz="1900" u="sng" dirty="0">
                <a:hlinkClick r:id="rId2"/>
              </a:rPr>
              <a:t>Sub-word tokenization</a:t>
            </a:r>
            <a:r>
              <a:rPr lang="en-US" sz="1900" dirty="0"/>
              <a:t> strikes a balance between word and character tokenization by breaking down text into units that are larger than a single character but smaller than a full word.</a:t>
            </a:r>
          </a:p>
          <a:p>
            <a:pPr marL="0" indent="0" fontAlgn="base">
              <a:buNone/>
            </a:pPr>
            <a:r>
              <a:rPr lang="en-US" sz="1900" b="1" dirty="0">
                <a:solidFill>
                  <a:srgbClr val="2B30FF"/>
                </a:solidFill>
                <a:latin typeface="+mj-lt"/>
                <a:ea typeface="+mj-ea"/>
                <a:cs typeface="+mj-cs"/>
              </a:rPr>
              <a:t>Sentence Tokenization: </a:t>
            </a:r>
            <a:r>
              <a:rPr lang="en-US" sz="1900" dirty="0"/>
              <a:t>Sentence tokenization is also a common technique used to make a division of paragraphs or large set of sentences into separated sentences as tokens.</a:t>
            </a:r>
          </a:p>
          <a:p>
            <a:pPr marL="0" indent="0" fontAlgn="base">
              <a:buNone/>
            </a:pPr>
            <a:r>
              <a:rPr lang="en-US" sz="1900" b="1" dirty="0">
                <a:solidFill>
                  <a:srgbClr val="2B30FF"/>
                </a:solidFill>
                <a:latin typeface="+mj-lt"/>
                <a:ea typeface="+mj-ea"/>
                <a:cs typeface="+mj-cs"/>
              </a:rPr>
              <a:t>N-gram Tokenization: </a:t>
            </a:r>
            <a:r>
              <a:rPr lang="en-US" sz="1900" dirty="0"/>
              <a:t>N-gram tokenization splits words into fixed-sized chunks (size = n) of data.</a:t>
            </a:r>
          </a:p>
          <a:p>
            <a:pPr marL="0" indent="0">
              <a:buNone/>
            </a:pPr>
            <a:endParaRPr lang="en-US" sz="1800" dirty="0"/>
          </a:p>
        </p:txBody>
      </p:sp>
    </p:spTree>
    <p:extLst>
      <p:ext uri="{BB962C8B-B14F-4D97-AF65-F5344CB8AC3E}">
        <p14:creationId xmlns:p14="http://schemas.microsoft.com/office/powerpoint/2010/main" val="960831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diagram of a type of tokenization&#10;&#10;AI-generated content may be incorrect.">
            <a:extLst>
              <a:ext uri="{FF2B5EF4-FFF2-40B4-BE49-F238E27FC236}">
                <a16:creationId xmlns:a16="http://schemas.microsoft.com/office/drawing/2014/main" id="{8A8F3B9E-3003-2562-89C7-858FDF9013B4}"/>
              </a:ext>
            </a:extLst>
          </p:cNvPr>
          <p:cNvPicPr>
            <a:picLocks noChangeAspect="1"/>
          </p:cNvPicPr>
          <p:nvPr/>
        </p:nvPicPr>
        <p:blipFill>
          <a:blip r:embed="rId2"/>
          <a:stretch>
            <a:fillRect/>
          </a:stretch>
        </p:blipFill>
        <p:spPr>
          <a:xfrm>
            <a:off x="342900" y="615791"/>
            <a:ext cx="8458200" cy="3911917"/>
          </a:xfrm>
          <a:prstGeom prst="rect">
            <a:avLst/>
          </a:prstGeom>
        </p:spPr>
      </p:pic>
    </p:spTree>
    <p:extLst>
      <p:ext uri="{BB962C8B-B14F-4D97-AF65-F5344CB8AC3E}">
        <p14:creationId xmlns:p14="http://schemas.microsoft.com/office/powerpoint/2010/main" val="1380198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4C356-D86D-D6BE-CBA4-9BBC4DE64921}"/>
              </a:ext>
            </a:extLst>
          </p:cNvPr>
          <p:cNvSpPr>
            <a:spLocks noGrp="1"/>
          </p:cNvSpPr>
          <p:nvPr>
            <p:ph type="title"/>
          </p:nvPr>
        </p:nvSpPr>
        <p:spPr/>
        <p:txBody>
          <a:bodyPr>
            <a:normAutofit/>
          </a:bodyPr>
          <a:lstStyle/>
          <a:p>
            <a:r>
              <a:rPr lang="en-US" dirty="0"/>
              <a:t>Basic Tokenization </a:t>
            </a:r>
          </a:p>
        </p:txBody>
      </p:sp>
      <p:sp>
        <p:nvSpPr>
          <p:cNvPr id="3" name="Content Placeholder 2">
            <a:extLst>
              <a:ext uri="{FF2B5EF4-FFF2-40B4-BE49-F238E27FC236}">
                <a16:creationId xmlns:a16="http://schemas.microsoft.com/office/drawing/2014/main" id="{4304C1EB-8A98-4EF4-5C0F-75697E76A7CE}"/>
              </a:ext>
            </a:extLst>
          </p:cNvPr>
          <p:cNvSpPr>
            <a:spLocks noGrp="1"/>
          </p:cNvSpPr>
          <p:nvPr>
            <p:ph idx="1"/>
          </p:nvPr>
        </p:nvSpPr>
        <p:spPr/>
        <p:txBody>
          <a:bodyPr>
            <a:normAutofit fontScale="85000" lnSpcReduction="10000"/>
          </a:bodyPr>
          <a:lstStyle/>
          <a:p>
            <a:pPr fontAlgn="base"/>
            <a:r>
              <a:rPr lang="en-US" dirty="0"/>
              <a:t>Imports </a:t>
            </a:r>
            <a:r>
              <a:rPr lang="en-US" u="sng" dirty="0">
                <a:hlinkClick r:id="rId2"/>
              </a:rPr>
              <a:t>regex </a:t>
            </a:r>
            <a:r>
              <a:rPr lang="en-US" dirty="0"/>
              <a:t>and </a:t>
            </a:r>
            <a:r>
              <a:rPr lang="en-US" u="sng" dirty="0">
                <a:hlinkClick r:id="rId3"/>
              </a:rPr>
              <a:t>collections</a:t>
            </a:r>
            <a:r>
              <a:rPr lang="en-US" dirty="0"/>
              <a:t>.</a:t>
            </a:r>
          </a:p>
          <a:p>
            <a:pPr fontAlgn="base"/>
            <a:r>
              <a:rPr lang="en-US" dirty="0"/>
              <a:t>Defines </a:t>
            </a:r>
            <a:r>
              <a:rPr lang="en-US" dirty="0" err="1"/>
              <a:t>preprocess_text</a:t>
            </a:r>
            <a:r>
              <a:rPr lang="en-US" dirty="0"/>
              <a:t>() to lowercase and tokenize text, keeping words and punctuation.</a:t>
            </a:r>
          </a:p>
          <a:p>
            <a:pPr fontAlgn="base"/>
            <a:r>
              <a:rPr lang="en-US" dirty="0"/>
              <a:t>Processes a sample paragraph using this function.</a:t>
            </a:r>
          </a:p>
          <a:p>
            <a:pPr fontAlgn="base"/>
            <a:r>
              <a:rPr lang="en-US" dirty="0"/>
              <a:t>Prints the list of tokens and the number of unique ones.</a:t>
            </a:r>
          </a:p>
          <a:p>
            <a:pPr marL="0" indent="0">
              <a:buNone/>
            </a:pPr>
            <a:endParaRPr lang="en-US" dirty="0"/>
          </a:p>
          <a:p>
            <a:pPr marL="0" indent="0">
              <a:buNone/>
            </a:pPr>
            <a:r>
              <a:rPr lang="en-US" dirty="0"/>
              <a:t>https://colab.research.google.com/drive/1J52Y9TM25A2QylacviO94YzfH8cs-WFG?authuser=7</a:t>
            </a:r>
          </a:p>
        </p:txBody>
      </p:sp>
    </p:spTree>
    <p:extLst>
      <p:ext uri="{BB962C8B-B14F-4D97-AF65-F5344CB8AC3E}">
        <p14:creationId xmlns:p14="http://schemas.microsoft.com/office/powerpoint/2010/main" val="2698750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94BC5-7F0C-EB45-4B50-60EF14761E30}"/>
              </a:ext>
            </a:extLst>
          </p:cNvPr>
          <p:cNvSpPr>
            <a:spLocks noGrp="1"/>
          </p:cNvSpPr>
          <p:nvPr>
            <p:ph type="title"/>
          </p:nvPr>
        </p:nvSpPr>
        <p:spPr/>
        <p:txBody>
          <a:bodyPr>
            <a:normAutofit/>
          </a:bodyPr>
          <a:lstStyle/>
          <a:p>
            <a:r>
              <a:rPr lang="en-US" b="1" dirty="0">
                <a:effectLst/>
              </a:rPr>
              <a:t>Character-Level Tokenization</a:t>
            </a:r>
            <a:endParaRPr lang="en-US" dirty="0"/>
          </a:p>
        </p:txBody>
      </p:sp>
      <p:sp>
        <p:nvSpPr>
          <p:cNvPr id="3" name="Content Placeholder 2">
            <a:extLst>
              <a:ext uri="{FF2B5EF4-FFF2-40B4-BE49-F238E27FC236}">
                <a16:creationId xmlns:a16="http://schemas.microsoft.com/office/drawing/2014/main" id="{963C868F-1141-5AA9-17B8-38912CA07D86}"/>
              </a:ext>
            </a:extLst>
          </p:cNvPr>
          <p:cNvSpPr>
            <a:spLocks noGrp="1"/>
          </p:cNvSpPr>
          <p:nvPr>
            <p:ph idx="1"/>
          </p:nvPr>
        </p:nvSpPr>
        <p:spPr/>
        <p:txBody>
          <a:bodyPr>
            <a:normAutofit fontScale="77500" lnSpcReduction="20000"/>
          </a:bodyPr>
          <a:lstStyle/>
          <a:p>
            <a:pPr fontAlgn="base"/>
            <a:r>
              <a:rPr lang="en-US" dirty="0"/>
              <a:t>Defines a function </a:t>
            </a:r>
            <a:r>
              <a:rPr lang="en-US" dirty="0" err="1"/>
              <a:t>create_char_vocabulary</a:t>
            </a:r>
            <a:r>
              <a:rPr lang="en-US" dirty="0"/>
              <a:t>() that takes a list of word tokens.</a:t>
            </a:r>
          </a:p>
          <a:p>
            <a:pPr fontAlgn="base"/>
            <a:r>
              <a:rPr lang="en-US" dirty="0"/>
              <a:t>For each word, it splits the word into characters and joins them with spaces.</a:t>
            </a:r>
          </a:p>
          <a:p>
            <a:pPr fontAlgn="base"/>
            <a:r>
              <a:rPr lang="en-US" dirty="0"/>
              <a:t>It counts how many times each unique space-separated character sequence appears.</a:t>
            </a:r>
          </a:p>
          <a:p>
            <a:pPr fontAlgn="base"/>
            <a:r>
              <a:rPr lang="en-US" dirty="0"/>
              <a:t>The vocabulary is stored as an </a:t>
            </a:r>
            <a:r>
              <a:rPr lang="en-US" dirty="0" err="1"/>
              <a:t>OrderedDict</a:t>
            </a:r>
            <a:r>
              <a:rPr lang="en-US" dirty="0"/>
              <a:t>, sorted by frequency.</a:t>
            </a:r>
          </a:p>
          <a:p>
            <a:pPr fontAlgn="base"/>
            <a:r>
              <a:rPr lang="en-US" dirty="0"/>
              <a:t>Prints the top 10 most frequent character sequences.</a:t>
            </a:r>
          </a:p>
          <a:p>
            <a:pPr marL="0" indent="0">
              <a:buNone/>
            </a:pPr>
            <a:r>
              <a:rPr lang="en-US" dirty="0"/>
              <a:t>https://colab.research.google.com/drive/1M12a75As_Dxa-yKpEGNXv9sG_B0Im7PR?authuser=7#scrollTo=iAu-V8iABefp</a:t>
            </a:r>
          </a:p>
        </p:txBody>
      </p:sp>
    </p:spTree>
    <p:extLst>
      <p:ext uri="{BB962C8B-B14F-4D97-AF65-F5344CB8AC3E}">
        <p14:creationId xmlns:p14="http://schemas.microsoft.com/office/powerpoint/2010/main" val="4150460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613EE-07DD-ECB0-3B99-D1345151EE43}"/>
              </a:ext>
            </a:extLst>
          </p:cNvPr>
          <p:cNvSpPr>
            <a:spLocks noGrp="1"/>
          </p:cNvSpPr>
          <p:nvPr>
            <p:ph type="title"/>
          </p:nvPr>
        </p:nvSpPr>
        <p:spPr/>
        <p:txBody>
          <a:bodyPr>
            <a:normAutofit/>
          </a:bodyPr>
          <a:lstStyle/>
          <a:p>
            <a:r>
              <a:rPr lang="en-US" b="1" dirty="0">
                <a:effectLst/>
              </a:rPr>
              <a:t>Byte-Pair Encoding Implementation</a:t>
            </a:r>
            <a:endParaRPr lang="en-US" dirty="0"/>
          </a:p>
        </p:txBody>
      </p:sp>
      <p:sp>
        <p:nvSpPr>
          <p:cNvPr id="3" name="Content Placeholder 2">
            <a:extLst>
              <a:ext uri="{FF2B5EF4-FFF2-40B4-BE49-F238E27FC236}">
                <a16:creationId xmlns:a16="http://schemas.microsoft.com/office/drawing/2014/main" id="{B2851880-F368-ACAF-C8F0-AB2717C4BCF8}"/>
              </a:ext>
            </a:extLst>
          </p:cNvPr>
          <p:cNvSpPr>
            <a:spLocks noGrp="1"/>
          </p:cNvSpPr>
          <p:nvPr>
            <p:ph idx="1"/>
          </p:nvPr>
        </p:nvSpPr>
        <p:spPr/>
        <p:txBody>
          <a:bodyPr>
            <a:normAutofit fontScale="62500" lnSpcReduction="20000"/>
          </a:bodyPr>
          <a:lstStyle/>
          <a:p>
            <a:pPr fontAlgn="base"/>
            <a:r>
              <a:rPr lang="en-US" b="1" dirty="0"/>
              <a:t>Initial Vocabulary:</a:t>
            </a:r>
            <a:r>
              <a:rPr lang="en-US" dirty="0"/>
              <a:t> Words are split into characters with their frequencies (e.g., "l o w e r": 2).</a:t>
            </a:r>
          </a:p>
          <a:p>
            <a:pPr fontAlgn="base"/>
            <a:r>
              <a:rPr lang="en-US" b="1" dirty="0"/>
              <a:t>Get Symbol Pairs: </a:t>
            </a:r>
            <a:r>
              <a:rPr lang="en-US" dirty="0" err="1"/>
              <a:t>get_pairs</a:t>
            </a:r>
            <a:r>
              <a:rPr lang="en-US" dirty="0"/>
              <a:t> counts how often each adjacent character pair appears.</a:t>
            </a:r>
          </a:p>
          <a:p>
            <a:pPr fontAlgn="base"/>
            <a:r>
              <a:rPr lang="en-US" b="1" dirty="0"/>
              <a:t>Merge Step:</a:t>
            </a:r>
            <a:r>
              <a:rPr lang="en-US" dirty="0"/>
              <a:t> </a:t>
            </a:r>
            <a:r>
              <a:rPr lang="en-US" dirty="0" err="1"/>
              <a:t>merge_vocab</a:t>
            </a:r>
            <a:r>
              <a:rPr lang="en-US" dirty="0"/>
              <a:t> replaces the most frequent pair with a combined token.</a:t>
            </a:r>
          </a:p>
          <a:p>
            <a:pPr fontAlgn="base"/>
            <a:r>
              <a:rPr lang="en-US" b="1" dirty="0"/>
              <a:t>BPE Loop:</a:t>
            </a:r>
            <a:r>
              <a:rPr lang="en-US" dirty="0"/>
              <a:t> Repeats merging the most common pair for a set number of times (5 here), updating the vocabulary each time.</a:t>
            </a:r>
          </a:p>
          <a:p>
            <a:pPr fontAlgn="base"/>
            <a:r>
              <a:rPr lang="en-US" b="1" dirty="0"/>
              <a:t>Final Output:</a:t>
            </a:r>
            <a:r>
              <a:rPr lang="en-US" dirty="0"/>
              <a:t> Prints the updated vocabulary after all merges, showing how characters group into </a:t>
            </a:r>
            <a:r>
              <a:rPr lang="en-US" dirty="0" err="1"/>
              <a:t>subword</a:t>
            </a:r>
            <a:r>
              <a:rPr lang="en-US" dirty="0"/>
              <a:t> units.</a:t>
            </a:r>
          </a:p>
          <a:p>
            <a:pPr marL="0" indent="0">
              <a:buNone/>
            </a:pPr>
            <a:r>
              <a:rPr lang="en-US" dirty="0"/>
              <a:t>https://colab.research.google.com/drive/13kCtXHzRnx9DuHG3ybjMWSBVnsT-de9Q?authuser=7</a:t>
            </a:r>
          </a:p>
        </p:txBody>
      </p:sp>
    </p:spTree>
    <p:extLst>
      <p:ext uri="{BB962C8B-B14F-4D97-AF65-F5344CB8AC3E}">
        <p14:creationId xmlns:p14="http://schemas.microsoft.com/office/powerpoint/2010/main" val="1774809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F4B60-8C8C-76EE-B3E3-64FCB1FA04BB}"/>
              </a:ext>
            </a:extLst>
          </p:cNvPr>
          <p:cNvSpPr>
            <a:spLocks noGrp="1"/>
          </p:cNvSpPr>
          <p:nvPr>
            <p:ph type="title"/>
          </p:nvPr>
        </p:nvSpPr>
        <p:spPr/>
        <p:txBody>
          <a:bodyPr>
            <a:normAutofit/>
          </a:bodyPr>
          <a:lstStyle/>
          <a:p>
            <a:r>
              <a:rPr lang="en-US" b="1" dirty="0">
                <a:effectLst/>
              </a:rPr>
              <a:t>Real-World Applications</a:t>
            </a:r>
            <a:endParaRPr lang="en-US" dirty="0"/>
          </a:p>
        </p:txBody>
      </p:sp>
      <p:sp>
        <p:nvSpPr>
          <p:cNvPr id="3" name="Content Placeholder 2">
            <a:extLst>
              <a:ext uri="{FF2B5EF4-FFF2-40B4-BE49-F238E27FC236}">
                <a16:creationId xmlns:a16="http://schemas.microsoft.com/office/drawing/2014/main" id="{6DF6B876-ADB6-65D5-43C2-ACC62E8D85B0}"/>
              </a:ext>
            </a:extLst>
          </p:cNvPr>
          <p:cNvSpPr>
            <a:spLocks noGrp="1"/>
          </p:cNvSpPr>
          <p:nvPr>
            <p:ph idx="1"/>
          </p:nvPr>
        </p:nvSpPr>
        <p:spPr/>
        <p:txBody>
          <a:bodyPr>
            <a:normAutofit fontScale="77500" lnSpcReduction="20000"/>
          </a:bodyPr>
          <a:lstStyle/>
          <a:p>
            <a:pPr fontAlgn="base"/>
            <a:r>
              <a:rPr lang="en-US" dirty="0" err="1"/>
              <a:t>Subword</a:t>
            </a:r>
            <a:r>
              <a:rPr lang="en-US" dirty="0"/>
              <a:t> tokenization is essential in transformer models like GPT, BERT and T5.</a:t>
            </a:r>
          </a:p>
          <a:p>
            <a:pPr fontAlgn="base"/>
            <a:r>
              <a:rPr lang="en-US" dirty="0"/>
              <a:t>GPT-2 uses Byte-Pair Encoding (BPE) on bytes, allowing it to process any Unicode text.</a:t>
            </a:r>
          </a:p>
          <a:p>
            <a:pPr fontAlgn="base"/>
            <a:r>
              <a:rPr lang="en-US" dirty="0"/>
              <a:t>BERT uses </a:t>
            </a:r>
            <a:r>
              <a:rPr lang="en-US" dirty="0" err="1"/>
              <a:t>WordPiece</a:t>
            </a:r>
            <a:r>
              <a:rPr lang="en-US" dirty="0"/>
              <a:t>, which selects </a:t>
            </a:r>
            <a:r>
              <a:rPr lang="en-US" dirty="0" err="1"/>
              <a:t>subword</a:t>
            </a:r>
            <a:r>
              <a:rPr lang="en-US" dirty="0"/>
              <a:t> units based on how likely they are to appear.</a:t>
            </a:r>
          </a:p>
          <a:p>
            <a:pPr fontAlgn="base"/>
            <a:r>
              <a:rPr lang="en-US" dirty="0"/>
              <a:t>Vocabulary size is compact (30k–50k tokens), making it efficient for memory and computation.</a:t>
            </a:r>
          </a:p>
          <a:p>
            <a:pPr fontAlgn="base"/>
            <a:r>
              <a:rPr lang="en-US" dirty="0"/>
              <a:t>It replaces huge word lists (with millions of entries) while still handling a wide variety of words.</a:t>
            </a:r>
          </a:p>
        </p:txBody>
      </p:sp>
    </p:spTree>
    <p:extLst>
      <p:ext uri="{BB962C8B-B14F-4D97-AF65-F5344CB8AC3E}">
        <p14:creationId xmlns:p14="http://schemas.microsoft.com/office/powerpoint/2010/main" val="2130736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21C5-CA9F-929B-F5E1-DD275412A86E}"/>
              </a:ext>
            </a:extLst>
          </p:cNvPr>
          <p:cNvSpPr>
            <a:spLocks noGrp="1"/>
          </p:cNvSpPr>
          <p:nvPr>
            <p:ph type="title"/>
          </p:nvPr>
        </p:nvSpPr>
        <p:spPr/>
        <p:txBody>
          <a:bodyPr>
            <a:normAutofit/>
          </a:bodyPr>
          <a:lstStyle/>
          <a:p>
            <a:r>
              <a:rPr lang="en-US" b="1" dirty="0">
                <a:effectLst/>
              </a:rPr>
              <a:t>POS(Parts-Of-Speech) Tagging</a:t>
            </a:r>
            <a:endParaRPr lang="en-US" dirty="0"/>
          </a:p>
        </p:txBody>
      </p:sp>
      <p:sp>
        <p:nvSpPr>
          <p:cNvPr id="3" name="Content Placeholder 2">
            <a:extLst>
              <a:ext uri="{FF2B5EF4-FFF2-40B4-BE49-F238E27FC236}">
                <a16:creationId xmlns:a16="http://schemas.microsoft.com/office/drawing/2014/main" id="{B453B18C-64E3-60B0-8018-1D775E4CEF43}"/>
              </a:ext>
            </a:extLst>
          </p:cNvPr>
          <p:cNvSpPr>
            <a:spLocks noGrp="1"/>
          </p:cNvSpPr>
          <p:nvPr>
            <p:ph idx="1"/>
          </p:nvPr>
        </p:nvSpPr>
        <p:spPr/>
        <p:txBody>
          <a:bodyPr/>
          <a:lstStyle/>
          <a:p>
            <a:r>
              <a:rPr lang="en-US" dirty="0"/>
              <a:t>Parts of Speech (</a:t>
            </a:r>
            <a:r>
              <a:rPr lang="en-US" dirty="0" err="1"/>
              <a:t>PoS</a:t>
            </a:r>
            <a:r>
              <a:rPr lang="en-US" dirty="0"/>
              <a:t>) tagging is a fundamental task in Natural Language Processing (NLP) where each word in a sentence is assigned a grammatical category such as noun, verb, adjective or adverb. This process help machines to understand the structure and meaning of sentences by identifying the roles of words and their relationships.</a:t>
            </a:r>
          </a:p>
        </p:txBody>
      </p:sp>
    </p:spTree>
    <p:extLst>
      <p:ext uri="{BB962C8B-B14F-4D97-AF65-F5344CB8AC3E}">
        <p14:creationId xmlns:p14="http://schemas.microsoft.com/office/powerpoint/2010/main" val="3829088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A96764-1835-80CA-58CB-388DBBE19D24}"/>
              </a:ext>
            </a:extLst>
          </p:cNvPr>
          <p:cNvPicPr>
            <a:picLocks noChangeAspect="1"/>
          </p:cNvPicPr>
          <p:nvPr/>
        </p:nvPicPr>
        <p:blipFill>
          <a:blip r:embed="rId2"/>
          <a:stretch>
            <a:fillRect/>
          </a:stretch>
        </p:blipFill>
        <p:spPr>
          <a:xfrm>
            <a:off x="585231" y="518826"/>
            <a:ext cx="7973538" cy="4105848"/>
          </a:xfrm>
          <a:prstGeom prst="rect">
            <a:avLst/>
          </a:prstGeom>
        </p:spPr>
      </p:pic>
    </p:spTree>
    <p:extLst>
      <p:ext uri="{BB962C8B-B14F-4D97-AF65-F5344CB8AC3E}">
        <p14:creationId xmlns:p14="http://schemas.microsoft.com/office/powerpoint/2010/main" val="3160582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C445F-6AE7-B5D2-93C6-02937FF762BD}"/>
              </a:ext>
            </a:extLst>
          </p:cNvPr>
          <p:cNvSpPr>
            <a:spLocks noGrp="1"/>
          </p:cNvSpPr>
          <p:nvPr>
            <p:ph type="title"/>
          </p:nvPr>
        </p:nvSpPr>
        <p:spPr/>
        <p:txBody>
          <a:bodyPr>
            <a:normAutofit/>
          </a:bodyPr>
          <a:lstStyle/>
          <a:p>
            <a:r>
              <a:rPr lang="en-US" b="1" dirty="0">
                <a:effectLst/>
              </a:rPr>
              <a:t>Key Concepts in POS Tagging</a:t>
            </a:r>
            <a:endParaRPr lang="en-US" dirty="0"/>
          </a:p>
        </p:txBody>
      </p:sp>
      <p:sp>
        <p:nvSpPr>
          <p:cNvPr id="3" name="Content Placeholder 2">
            <a:extLst>
              <a:ext uri="{FF2B5EF4-FFF2-40B4-BE49-F238E27FC236}">
                <a16:creationId xmlns:a16="http://schemas.microsoft.com/office/drawing/2014/main" id="{472D3569-A236-7211-90B2-757DCB6DF1E7}"/>
              </a:ext>
            </a:extLst>
          </p:cNvPr>
          <p:cNvSpPr>
            <a:spLocks noGrp="1"/>
          </p:cNvSpPr>
          <p:nvPr>
            <p:ph idx="1"/>
          </p:nvPr>
        </p:nvSpPr>
        <p:spPr/>
        <p:txBody>
          <a:bodyPr>
            <a:normAutofit lnSpcReduction="10000"/>
          </a:bodyPr>
          <a:lstStyle/>
          <a:p>
            <a:pPr fontAlgn="base"/>
            <a:r>
              <a:rPr lang="en-US" b="1" dirty="0"/>
              <a:t>Parts of Speech</a:t>
            </a:r>
            <a:r>
              <a:rPr lang="en-US" dirty="0"/>
              <a:t>: These are categories like nouns, verbs, adjectives, adverbs, </a:t>
            </a:r>
            <a:r>
              <a:rPr lang="en-US" dirty="0" err="1"/>
              <a:t>etc</a:t>
            </a:r>
            <a:r>
              <a:rPr lang="en-US" dirty="0"/>
              <a:t> that define the role of a word in a sentence.</a:t>
            </a:r>
          </a:p>
          <a:p>
            <a:pPr fontAlgn="base"/>
            <a:r>
              <a:rPr lang="en-US" b="1" dirty="0"/>
              <a:t>Tagging</a:t>
            </a:r>
            <a:r>
              <a:rPr lang="en-US" dirty="0"/>
              <a:t>: The process of assigning a specific part-of-speech label to each word in a sentence.</a:t>
            </a:r>
          </a:p>
          <a:p>
            <a:pPr fontAlgn="base"/>
            <a:r>
              <a:rPr lang="en-US" b="1" dirty="0"/>
              <a:t>Corpus</a:t>
            </a:r>
            <a:r>
              <a:rPr lang="en-US" dirty="0"/>
              <a:t>: A large collection of text data used to train POS taggers.</a:t>
            </a:r>
          </a:p>
          <a:p>
            <a:endParaRPr lang="en-US" dirty="0"/>
          </a:p>
        </p:txBody>
      </p:sp>
    </p:spTree>
    <p:extLst>
      <p:ext uri="{BB962C8B-B14F-4D97-AF65-F5344CB8AC3E}">
        <p14:creationId xmlns:p14="http://schemas.microsoft.com/office/powerpoint/2010/main" val="2945940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A7F03-6D49-53ED-405E-92D49C3DD159}"/>
              </a:ext>
            </a:extLst>
          </p:cNvPr>
          <p:cNvSpPr>
            <a:spLocks noGrp="1"/>
          </p:cNvSpPr>
          <p:nvPr>
            <p:ph type="title"/>
          </p:nvPr>
        </p:nvSpPr>
        <p:spPr/>
        <p:txBody>
          <a:bodyPr>
            <a:normAutofit/>
          </a:bodyPr>
          <a:lstStyle/>
          <a:p>
            <a:r>
              <a:rPr lang="en-US" b="1" dirty="0">
                <a:effectLst/>
              </a:rPr>
              <a:t>Example of POS Tagging</a:t>
            </a:r>
            <a:endParaRPr lang="en-US" dirty="0"/>
          </a:p>
        </p:txBody>
      </p:sp>
      <p:sp>
        <p:nvSpPr>
          <p:cNvPr id="3" name="Content Placeholder 2">
            <a:extLst>
              <a:ext uri="{FF2B5EF4-FFF2-40B4-BE49-F238E27FC236}">
                <a16:creationId xmlns:a16="http://schemas.microsoft.com/office/drawing/2014/main" id="{ED86BDE5-F017-C99F-3A7E-88AC34ADFE1E}"/>
              </a:ext>
            </a:extLst>
          </p:cNvPr>
          <p:cNvSpPr>
            <a:spLocks noGrp="1"/>
          </p:cNvSpPr>
          <p:nvPr>
            <p:ph idx="1"/>
          </p:nvPr>
        </p:nvSpPr>
        <p:spPr>
          <a:xfrm>
            <a:off x="601670" y="1502814"/>
            <a:ext cx="7940660" cy="3512215"/>
          </a:xfrm>
        </p:spPr>
        <p:txBody>
          <a:bodyPr>
            <a:normAutofit fontScale="70000" lnSpcReduction="20000"/>
          </a:bodyPr>
          <a:lstStyle/>
          <a:p>
            <a:pPr marL="0" indent="0" fontAlgn="base">
              <a:buNone/>
            </a:pPr>
            <a:r>
              <a:rPr lang="en-US" dirty="0"/>
              <a:t>Consider the sentence: "</a:t>
            </a:r>
            <a:r>
              <a:rPr lang="en-US" b="1" dirty="0"/>
              <a:t>The quick brown fox jumps over the lazy dog.</a:t>
            </a:r>
            <a:r>
              <a:rPr lang="en-US" dirty="0"/>
              <a:t>"</a:t>
            </a:r>
          </a:p>
          <a:p>
            <a:pPr marL="0" indent="0" fontAlgn="base">
              <a:buNone/>
            </a:pPr>
            <a:r>
              <a:rPr lang="en-US" dirty="0"/>
              <a:t>After performing POS Tagging, we get:</a:t>
            </a:r>
          </a:p>
          <a:p>
            <a:pPr marL="0" indent="0" fontAlgn="base">
              <a:buNone/>
            </a:pPr>
            <a:r>
              <a:rPr lang="en-US" i="1" dirty="0"/>
              <a:t>"The" is tagged as determiner (DT)</a:t>
            </a:r>
          </a:p>
          <a:p>
            <a:pPr marL="0" indent="0" fontAlgn="base">
              <a:buNone/>
            </a:pPr>
            <a:r>
              <a:rPr lang="en-US" i="1" dirty="0"/>
              <a:t>"quick" is tagged as adjective (JJ)</a:t>
            </a:r>
          </a:p>
          <a:p>
            <a:pPr marL="0" indent="0" fontAlgn="base">
              <a:buNone/>
            </a:pPr>
            <a:r>
              <a:rPr lang="en-US" i="1" dirty="0"/>
              <a:t>"brown" is tagged as adjective (JJ)</a:t>
            </a:r>
          </a:p>
          <a:p>
            <a:pPr marL="0" indent="0" fontAlgn="base">
              <a:buNone/>
            </a:pPr>
            <a:r>
              <a:rPr lang="en-US" i="1" dirty="0"/>
              <a:t>"fox" is tagged as noun (NN)</a:t>
            </a:r>
          </a:p>
          <a:p>
            <a:pPr marL="0" indent="0" fontAlgn="base">
              <a:buNone/>
            </a:pPr>
            <a:r>
              <a:rPr lang="en-US" i="1" dirty="0"/>
              <a:t>"jumps" is tagged as verb (VBZ)</a:t>
            </a:r>
          </a:p>
          <a:p>
            <a:pPr marL="0" indent="0" fontAlgn="base">
              <a:buNone/>
            </a:pPr>
            <a:r>
              <a:rPr lang="en-US" i="1" dirty="0"/>
              <a:t>"over" is tagged as preposition (IN)</a:t>
            </a:r>
          </a:p>
          <a:p>
            <a:pPr marL="0" indent="0" fontAlgn="base">
              <a:buNone/>
            </a:pPr>
            <a:r>
              <a:rPr lang="en-US" i="1" dirty="0"/>
              <a:t>"the" is tagged as determiner (DT)</a:t>
            </a:r>
          </a:p>
          <a:p>
            <a:pPr marL="0" indent="0" fontAlgn="base">
              <a:buNone/>
            </a:pPr>
            <a:r>
              <a:rPr lang="en-US" i="1" dirty="0"/>
              <a:t>"lazy" is tagged as adjective (JJ)</a:t>
            </a:r>
          </a:p>
          <a:p>
            <a:pPr marL="0" indent="0" fontAlgn="base">
              <a:buNone/>
            </a:pPr>
            <a:r>
              <a:rPr lang="en-US" i="1" dirty="0"/>
              <a:t>"dog" is tagged as noun (NN)</a:t>
            </a:r>
          </a:p>
          <a:p>
            <a:endParaRPr lang="en-US" dirty="0"/>
          </a:p>
        </p:txBody>
      </p:sp>
    </p:spTree>
    <p:extLst>
      <p:ext uri="{BB962C8B-B14F-4D97-AF65-F5344CB8AC3E}">
        <p14:creationId xmlns:p14="http://schemas.microsoft.com/office/powerpoint/2010/main" val="5100446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65FA2-4BEF-0561-183C-0AB9804B20DC}"/>
              </a:ext>
            </a:extLst>
          </p:cNvPr>
          <p:cNvSpPr>
            <a:spLocks noGrp="1"/>
          </p:cNvSpPr>
          <p:nvPr>
            <p:ph type="title"/>
          </p:nvPr>
        </p:nvSpPr>
        <p:spPr/>
        <p:txBody>
          <a:bodyPr>
            <a:normAutofit/>
          </a:bodyPr>
          <a:lstStyle/>
          <a:p>
            <a:r>
              <a:rPr lang="en-US" b="1" dirty="0">
                <a:effectLst/>
              </a:rPr>
              <a:t>Working of POS Tagging</a:t>
            </a:r>
            <a:endParaRPr lang="en-US" dirty="0"/>
          </a:p>
        </p:txBody>
      </p:sp>
      <p:sp>
        <p:nvSpPr>
          <p:cNvPr id="3" name="Content Placeholder 2">
            <a:extLst>
              <a:ext uri="{FF2B5EF4-FFF2-40B4-BE49-F238E27FC236}">
                <a16:creationId xmlns:a16="http://schemas.microsoft.com/office/drawing/2014/main" id="{D2033F32-8558-64D5-3BC6-CDB79995BD08}"/>
              </a:ext>
            </a:extLst>
          </p:cNvPr>
          <p:cNvSpPr>
            <a:spLocks noGrp="1"/>
          </p:cNvSpPr>
          <p:nvPr>
            <p:ph idx="1"/>
          </p:nvPr>
        </p:nvSpPr>
        <p:spPr>
          <a:xfrm>
            <a:off x="601670" y="1502815"/>
            <a:ext cx="7940660" cy="3359510"/>
          </a:xfrm>
        </p:spPr>
        <p:txBody>
          <a:bodyPr>
            <a:normAutofit fontScale="62500" lnSpcReduction="20000"/>
          </a:bodyPr>
          <a:lstStyle/>
          <a:p>
            <a:pPr fontAlgn="base"/>
            <a:r>
              <a:rPr lang="en-US" b="1" dirty="0"/>
              <a:t>Tokenization</a:t>
            </a:r>
            <a:r>
              <a:rPr lang="en-US" dirty="0"/>
              <a:t>: The input text is split into individual tokens (words or </a:t>
            </a:r>
            <a:r>
              <a:rPr lang="en-US" dirty="0" err="1"/>
              <a:t>subwords</a:t>
            </a:r>
            <a:r>
              <a:rPr lang="en-US" dirty="0"/>
              <a:t>), this step is necessary for further analysis.</a:t>
            </a:r>
          </a:p>
          <a:p>
            <a:pPr fontAlgn="base"/>
            <a:r>
              <a:rPr lang="en-US" b="1" dirty="0"/>
              <a:t>Preprocessing</a:t>
            </a:r>
            <a:r>
              <a:rPr lang="en-US" dirty="0"/>
              <a:t>: The text is cleaned such as converting it to lowercase and removing special characters, to improve accuracy.</a:t>
            </a:r>
          </a:p>
          <a:p>
            <a:pPr fontAlgn="base"/>
            <a:r>
              <a:rPr lang="en-US" b="1" dirty="0"/>
              <a:t>Loading a Language Model</a:t>
            </a:r>
            <a:r>
              <a:rPr lang="en-US" dirty="0"/>
              <a:t>: Tools like </a:t>
            </a:r>
            <a:r>
              <a:rPr lang="en-US" u="sng" dirty="0">
                <a:hlinkClick r:id="rId2"/>
              </a:rPr>
              <a:t>NLTK </a:t>
            </a:r>
            <a:r>
              <a:rPr lang="en-US" dirty="0"/>
              <a:t>or </a:t>
            </a:r>
            <a:r>
              <a:rPr lang="en-US" u="sng" dirty="0" err="1">
                <a:hlinkClick r:id="rId3"/>
              </a:rPr>
              <a:t>SpaCy</a:t>
            </a:r>
            <a:r>
              <a:rPr lang="en-US" u="sng" dirty="0">
                <a:hlinkClick r:id="rId3"/>
              </a:rPr>
              <a:t> </a:t>
            </a:r>
            <a:r>
              <a:rPr lang="en-US" dirty="0"/>
              <a:t>use pre-trained language models to understand the grammatical rules of the language, these models have been trained on large datasets.</a:t>
            </a:r>
          </a:p>
          <a:p>
            <a:pPr fontAlgn="base"/>
            <a:r>
              <a:rPr lang="en-US" b="1" dirty="0"/>
              <a:t>Linguistic Analysis</a:t>
            </a:r>
            <a:r>
              <a:rPr lang="en-US" dirty="0"/>
              <a:t>: The structure of the sentence is analyzed to understand the role of each word in context.</a:t>
            </a:r>
          </a:p>
          <a:p>
            <a:pPr fontAlgn="base"/>
            <a:r>
              <a:rPr lang="en-US" b="1" dirty="0"/>
              <a:t>POS Tagging</a:t>
            </a:r>
            <a:r>
              <a:rPr lang="en-US" dirty="0"/>
              <a:t>: Each word is assigned a part-of-speech label based on its role in the sentence and the context provided by surrounding words.</a:t>
            </a:r>
          </a:p>
          <a:p>
            <a:pPr fontAlgn="base"/>
            <a:r>
              <a:rPr lang="en-US" b="1" dirty="0"/>
              <a:t>Evaluation</a:t>
            </a:r>
            <a:r>
              <a:rPr lang="en-US" dirty="0"/>
              <a:t>: The results are checked for accuracy. If there are any errors or misclassifications, they are corrected.</a:t>
            </a:r>
          </a:p>
        </p:txBody>
      </p:sp>
    </p:spTree>
    <p:extLst>
      <p:ext uri="{BB962C8B-B14F-4D97-AF65-F5344CB8AC3E}">
        <p14:creationId xmlns:p14="http://schemas.microsoft.com/office/powerpoint/2010/main" val="22495494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6919E-B9A1-C440-AA86-B84289AD22F6}"/>
              </a:ext>
            </a:extLst>
          </p:cNvPr>
          <p:cNvSpPr>
            <a:spLocks noGrp="1"/>
          </p:cNvSpPr>
          <p:nvPr>
            <p:ph type="title"/>
          </p:nvPr>
        </p:nvSpPr>
        <p:spPr/>
        <p:txBody>
          <a:bodyPr>
            <a:normAutofit/>
          </a:bodyPr>
          <a:lstStyle/>
          <a:p>
            <a:r>
              <a:rPr lang="en-US" b="1" dirty="0">
                <a:effectLst/>
              </a:rPr>
              <a:t>Types of POS Tagging</a:t>
            </a:r>
            <a:endParaRPr lang="en-US" dirty="0"/>
          </a:p>
        </p:txBody>
      </p:sp>
      <p:pic>
        <p:nvPicPr>
          <p:cNvPr id="5" name="Picture 4">
            <a:extLst>
              <a:ext uri="{FF2B5EF4-FFF2-40B4-BE49-F238E27FC236}">
                <a16:creationId xmlns:a16="http://schemas.microsoft.com/office/drawing/2014/main" id="{0EDF7FA8-C48A-958B-D107-6C33F00D76F7}"/>
              </a:ext>
            </a:extLst>
          </p:cNvPr>
          <p:cNvPicPr>
            <a:picLocks noChangeAspect="1"/>
          </p:cNvPicPr>
          <p:nvPr/>
        </p:nvPicPr>
        <p:blipFill>
          <a:blip r:embed="rId2"/>
          <a:stretch>
            <a:fillRect/>
          </a:stretch>
        </p:blipFill>
        <p:spPr>
          <a:xfrm>
            <a:off x="328020" y="1502815"/>
            <a:ext cx="8487960" cy="3217122"/>
          </a:xfrm>
          <a:prstGeom prst="rect">
            <a:avLst/>
          </a:prstGeom>
        </p:spPr>
      </p:pic>
    </p:spTree>
    <p:extLst>
      <p:ext uri="{BB962C8B-B14F-4D97-AF65-F5344CB8AC3E}">
        <p14:creationId xmlns:p14="http://schemas.microsoft.com/office/powerpoint/2010/main" val="23204598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3D059-B07C-796E-C5E0-0199785DA478}"/>
              </a:ext>
            </a:extLst>
          </p:cNvPr>
          <p:cNvSpPr>
            <a:spLocks noGrp="1"/>
          </p:cNvSpPr>
          <p:nvPr>
            <p:ph type="title"/>
          </p:nvPr>
        </p:nvSpPr>
        <p:spPr/>
        <p:txBody>
          <a:bodyPr>
            <a:normAutofit/>
          </a:bodyPr>
          <a:lstStyle/>
          <a:p>
            <a:r>
              <a:rPr lang="en-US" b="1" dirty="0">
                <a:effectLst/>
              </a:rPr>
              <a:t>1. Rule-Based Tagging</a:t>
            </a:r>
            <a:endParaRPr lang="en-US" dirty="0"/>
          </a:p>
        </p:txBody>
      </p:sp>
      <p:sp>
        <p:nvSpPr>
          <p:cNvPr id="3" name="Content Placeholder 2">
            <a:extLst>
              <a:ext uri="{FF2B5EF4-FFF2-40B4-BE49-F238E27FC236}">
                <a16:creationId xmlns:a16="http://schemas.microsoft.com/office/drawing/2014/main" id="{CAD62512-68C1-3330-9AE7-8AB41DF57A13}"/>
              </a:ext>
            </a:extLst>
          </p:cNvPr>
          <p:cNvSpPr>
            <a:spLocks noGrp="1"/>
          </p:cNvSpPr>
          <p:nvPr>
            <p:ph idx="1"/>
          </p:nvPr>
        </p:nvSpPr>
        <p:spPr>
          <a:xfrm>
            <a:off x="448965" y="1502815"/>
            <a:ext cx="8093365" cy="3359510"/>
          </a:xfrm>
        </p:spPr>
        <p:txBody>
          <a:bodyPr>
            <a:normAutofit fontScale="92500" lnSpcReduction="20000"/>
          </a:bodyPr>
          <a:lstStyle/>
          <a:p>
            <a:pPr marL="0" indent="0" fontAlgn="base">
              <a:buNone/>
            </a:pPr>
            <a:r>
              <a:rPr lang="en-US" sz="2000" u="sng" dirty="0">
                <a:hlinkClick r:id="rId2"/>
              </a:rPr>
              <a:t>Rule-based POS tagging</a:t>
            </a:r>
            <a:r>
              <a:rPr lang="en-US" sz="2000" dirty="0"/>
              <a:t> assigns POS tags based on predefined grammatical rules. These rules are crafted based on morphological features (like word endings) and syntactic context, making the approach highly interpretable and transparent.</a:t>
            </a:r>
          </a:p>
          <a:p>
            <a:pPr marL="0" indent="0" fontAlgn="base">
              <a:buNone/>
            </a:pPr>
            <a:r>
              <a:rPr lang="en-US" sz="2000" b="1" dirty="0"/>
              <a:t>Example:</a:t>
            </a:r>
            <a:endParaRPr lang="en-US" sz="2000" dirty="0"/>
          </a:p>
          <a:p>
            <a:pPr marL="0" indent="0" fontAlgn="base">
              <a:buNone/>
            </a:pPr>
            <a:r>
              <a:rPr lang="en-US" sz="2000" b="1" dirty="0"/>
              <a:t>1. Rule:</a:t>
            </a:r>
            <a:r>
              <a:rPr lang="en-US" sz="2000" dirty="0"/>
              <a:t> Assign the POS tag "Noun" to words ending in "-</a:t>
            </a:r>
            <a:r>
              <a:rPr lang="en-US" sz="2000" dirty="0" err="1"/>
              <a:t>tion</a:t>
            </a:r>
            <a:r>
              <a:rPr lang="en-US" sz="2000" dirty="0"/>
              <a:t>" or "-</a:t>
            </a:r>
            <a:r>
              <a:rPr lang="en-US" sz="2000" dirty="0" err="1"/>
              <a:t>ment</a:t>
            </a:r>
            <a:r>
              <a:rPr lang="en-US" sz="2000" dirty="0"/>
              <a:t>".</a:t>
            </a:r>
          </a:p>
          <a:p>
            <a:pPr marL="0" indent="0" fontAlgn="base">
              <a:buNone/>
            </a:pPr>
            <a:r>
              <a:rPr lang="en-US" sz="2000" b="1" dirty="0"/>
              <a:t>2. Sentence:</a:t>
            </a:r>
            <a:r>
              <a:rPr lang="en-US" sz="2000" dirty="0"/>
              <a:t> "The presentation highlighted the key achievements of the project's development."</a:t>
            </a:r>
          </a:p>
          <a:p>
            <a:pPr marL="0" indent="0" fontAlgn="base">
              <a:buNone/>
            </a:pPr>
            <a:r>
              <a:rPr lang="en-US" sz="2000" b="1" dirty="0"/>
              <a:t>3. Tagged Output:</a:t>
            </a:r>
            <a:endParaRPr lang="en-US" sz="2000" dirty="0"/>
          </a:p>
          <a:p>
            <a:pPr marL="400050" lvl="1" indent="0" fontAlgn="base">
              <a:buNone/>
            </a:pPr>
            <a:r>
              <a:rPr lang="en-US" sz="2000" dirty="0"/>
              <a:t>"presentation" → Noun (N)</a:t>
            </a:r>
          </a:p>
          <a:p>
            <a:pPr marL="400050" lvl="1" indent="0" fontAlgn="base">
              <a:buNone/>
            </a:pPr>
            <a:r>
              <a:rPr lang="en-US" sz="2000" dirty="0"/>
              <a:t>"highlighted" → Verb (V)</a:t>
            </a:r>
          </a:p>
          <a:p>
            <a:pPr marL="400050" lvl="1" indent="0" fontAlgn="base">
              <a:buNone/>
            </a:pPr>
            <a:r>
              <a:rPr lang="en-US" sz="2000" dirty="0"/>
              <a:t>"development" → Noun (N)</a:t>
            </a:r>
          </a:p>
        </p:txBody>
      </p:sp>
    </p:spTree>
    <p:extLst>
      <p:ext uri="{BB962C8B-B14F-4D97-AF65-F5344CB8AC3E}">
        <p14:creationId xmlns:p14="http://schemas.microsoft.com/office/powerpoint/2010/main" val="2428932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EFD0-BCDA-116A-8BE1-4F9C5EF009AF}"/>
              </a:ext>
            </a:extLst>
          </p:cNvPr>
          <p:cNvSpPr>
            <a:spLocks noGrp="1"/>
          </p:cNvSpPr>
          <p:nvPr>
            <p:ph type="title"/>
          </p:nvPr>
        </p:nvSpPr>
        <p:spPr/>
        <p:txBody>
          <a:bodyPr>
            <a:normAutofit/>
          </a:bodyPr>
          <a:lstStyle/>
          <a:p>
            <a:r>
              <a:rPr lang="en-US" b="1" dirty="0">
                <a:effectLst/>
              </a:rPr>
              <a:t>2. Transformation-Based Tagging (TBT)</a:t>
            </a:r>
            <a:endParaRPr lang="en-US" dirty="0"/>
          </a:p>
        </p:txBody>
      </p:sp>
      <p:sp>
        <p:nvSpPr>
          <p:cNvPr id="3" name="Content Placeholder 2">
            <a:extLst>
              <a:ext uri="{FF2B5EF4-FFF2-40B4-BE49-F238E27FC236}">
                <a16:creationId xmlns:a16="http://schemas.microsoft.com/office/drawing/2014/main" id="{7C076FED-5A20-0386-B332-D6E13EFB94CE}"/>
              </a:ext>
            </a:extLst>
          </p:cNvPr>
          <p:cNvSpPr>
            <a:spLocks noGrp="1"/>
          </p:cNvSpPr>
          <p:nvPr>
            <p:ph idx="1"/>
          </p:nvPr>
        </p:nvSpPr>
        <p:spPr>
          <a:xfrm>
            <a:off x="601670" y="1502815"/>
            <a:ext cx="7940660" cy="3359510"/>
          </a:xfrm>
        </p:spPr>
        <p:txBody>
          <a:bodyPr>
            <a:normAutofit fontScale="70000" lnSpcReduction="20000"/>
          </a:bodyPr>
          <a:lstStyle/>
          <a:p>
            <a:pPr marL="0" indent="0" fontAlgn="base">
              <a:buNone/>
            </a:pPr>
            <a:r>
              <a:rPr lang="en-US" dirty="0"/>
              <a:t>TBT refines POS tags through a series of context-based transformations. Unlike statistical taggers that rely on probabilities or rule-based taggers, it starts with initial tags and improves them iteratively by applying transformation rules.</a:t>
            </a:r>
          </a:p>
          <a:p>
            <a:pPr marL="0" indent="0" fontAlgn="base">
              <a:buNone/>
            </a:pPr>
            <a:r>
              <a:rPr lang="en-US" b="1" dirty="0"/>
              <a:t>Example:</a:t>
            </a:r>
            <a:endParaRPr lang="en-US" dirty="0"/>
          </a:p>
          <a:p>
            <a:pPr fontAlgn="base"/>
            <a:r>
              <a:rPr lang="en-US" b="1" dirty="0"/>
              <a:t>Text:</a:t>
            </a:r>
            <a:r>
              <a:rPr lang="en-US" dirty="0"/>
              <a:t> "The cat chased the mouse."</a:t>
            </a:r>
          </a:p>
          <a:p>
            <a:pPr fontAlgn="base"/>
            <a:r>
              <a:rPr lang="en-US" b="1" dirty="0"/>
              <a:t>Initial Tags:</a:t>
            </a:r>
            <a:r>
              <a:rPr lang="en-US" dirty="0"/>
              <a:t> "The" – DET, "cat" – NOUN, "chased" – VERB, "the" – DET, "mouse" – NOUN</a:t>
            </a:r>
          </a:p>
          <a:p>
            <a:pPr fontAlgn="base"/>
            <a:r>
              <a:rPr lang="en-US" b="1" dirty="0"/>
              <a:t>Rule Applied:</a:t>
            </a:r>
            <a:r>
              <a:rPr lang="en-US" dirty="0"/>
              <a:t> Change “chased” from Verb to </a:t>
            </a:r>
            <a:r>
              <a:rPr lang="en-US" dirty="0" err="1"/>
              <a:t>Nounbecause</a:t>
            </a:r>
            <a:r>
              <a:rPr lang="en-US" dirty="0"/>
              <a:t> it follows “the”.</a:t>
            </a:r>
          </a:p>
          <a:p>
            <a:pPr fontAlgn="base"/>
            <a:r>
              <a:rPr lang="en-US" b="1" dirty="0"/>
              <a:t>Updated Tags:</a:t>
            </a:r>
            <a:r>
              <a:rPr lang="en-US" dirty="0"/>
              <a:t> "chased" becomes Noun.</a:t>
            </a:r>
          </a:p>
          <a:p>
            <a:endParaRPr lang="en-US" dirty="0"/>
          </a:p>
        </p:txBody>
      </p:sp>
    </p:spTree>
    <p:extLst>
      <p:ext uri="{BB962C8B-B14F-4D97-AF65-F5344CB8AC3E}">
        <p14:creationId xmlns:p14="http://schemas.microsoft.com/office/powerpoint/2010/main" val="4199384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0E495-DE3E-DC45-7C6B-2C96DC2A82ED}"/>
              </a:ext>
            </a:extLst>
          </p:cNvPr>
          <p:cNvSpPr>
            <a:spLocks noGrp="1"/>
          </p:cNvSpPr>
          <p:nvPr>
            <p:ph type="title"/>
          </p:nvPr>
        </p:nvSpPr>
        <p:spPr/>
        <p:txBody>
          <a:bodyPr>
            <a:normAutofit/>
          </a:bodyPr>
          <a:lstStyle/>
          <a:p>
            <a:r>
              <a:rPr lang="en-US" b="1" dirty="0">
                <a:effectLst/>
              </a:rPr>
              <a:t>3. Statistical POS Tagging</a:t>
            </a:r>
            <a:endParaRPr lang="en-US" dirty="0"/>
          </a:p>
        </p:txBody>
      </p:sp>
      <p:sp>
        <p:nvSpPr>
          <p:cNvPr id="3" name="Content Placeholder 2">
            <a:extLst>
              <a:ext uri="{FF2B5EF4-FFF2-40B4-BE49-F238E27FC236}">
                <a16:creationId xmlns:a16="http://schemas.microsoft.com/office/drawing/2014/main" id="{8294D384-FD4E-57B2-BAA1-64531EECE1F1}"/>
              </a:ext>
            </a:extLst>
          </p:cNvPr>
          <p:cNvSpPr>
            <a:spLocks noGrp="1"/>
          </p:cNvSpPr>
          <p:nvPr>
            <p:ph idx="1"/>
          </p:nvPr>
        </p:nvSpPr>
        <p:spPr/>
        <p:txBody>
          <a:bodyPr/>
          <a:lstStyle/>
          <a:p>
            <a:pPr marL="0" indent="0">
              <a:buNone/>
            </a:pPr>
            <a:r>
              <a:rPr lang="en-US" dirty="0"/>
              <a:t>It uses probabilistic models to assign grammatical categories (</a:t>
            </a:r>
            <a:r>
              <a:rPr lang="en-US" dirty="0" err="1"/>
              <a:t>e.g</a:t>
            </a:r>
            <a:r>
              <a:rPr lang="en-US" dirty="0"/>
              <a:t> noun, verb, adjective) to words in a text. Unlike rule-based methods which rely on handcrafted rules, it learns patterns from large annotated corpora using machine learning techniques.</a:t>
            </a:r>
          </a:p>
        </p:txBody>
      </p:sp>
    </p:spTree>
    <p:extLst>
      <p:ext uri="{BB962C8B-B14F-4D97-AF65-F5344CB8AC3E}">
        <p14:creationId xmlns:p14="http://schemas.microsoft.com/office/powerpoint/2010/main" val="8897375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A86D7-AFE9-D9BC-88B1-7CE64223D3B2}"/>
              </a:ext>
            </a:extLst>
          </p:cNvPr>
          <p:cNvSpPr>
            <a:spLocks noGrp="1"/>
          </p:cNvSpPr>
          <p:nvPr>
            <p:ph type="title"/>
          </p:nvPr>
        </p:nvSpPr>
        <p:spPr/>
        <p:txBody>
          <a:bodyPr>
            <a:normAutofit/>
          </a:bodyPr>
          <a:lstStyle/>
          <a:p>
            <a:r>
              <a:rPr lang="en-US" b="1" dirty="0">
                <a:effectLst/>
              </a:rPr>
              <a:t>Implementing POS Tagging with NLTK</a:t>
            </a:r>
            <a:endParaRPr lang="en-US" dirty="0"/>
          </a:p>
        </p:txBody>
      </p:sp>
      <p:sp>
        <p:nvSpPr>
          <p:cNvPr id="3" name="Content Placeholder 2">
            <a:extLst>
              <a:ext uri="{FF2B5EF4-FFF2-40B4-BE49-F238E27FC236}">
                <a16:creationId xmlns:a16="http://schemas.microsoft.com/office/drawing/2014/main" id="{35C7A6CF-BA03-1419-324D-C5D0B481C1E4}"/>
              </a:ext>
            </a:extLst>
          </p:cNvPr>
          <p:cNvSpPr>
            <a:spLocks noGrp="1"/>
          </p:cNvSpPr>
          <p:nvPr>
            <p:ph idx="1"/>
          </p:nvPr>
        </p:nvSpPr>
        <p:spPr/>
        <p:txBody>
          <a:bodyPr>
            <a:normAutofit lnSpcReduction="10000"/>
          </a:bodyPr>
          <a:lstStyle/>
          <a:p>
            <a:pPr marL="0" indent="0">
              <a:buNone/>
            </a:pPr>
            <a:r>
              <a:rPr lang="en-US" b="1" dirty="0"/>
              <a:t>Step 1: Installing Required Resources</a:t>
            </a:r>
          </a:p>
          <a:p>
            <a:pPr marL="0" indent="0">
              <a:buNone/>
            </a:pPr>
            <a:r>
              <a:rPr lang="en-US" b="1" dirty="0"/>
              <a:t>Step 2: Applying POS Tagging</a:t>
            </a:r>
          </a:p>
          <a:p>
            <a:pPr marL="0" indent="0">
              <a:buNone/>
            </a:pPr>
            <a:r>
              <a:rPr lang="en-US" b="1" dirty="0"/>
              <a:t>Step 3: Displaying Results</a:t>
            </a:r>
          </a:p>
          <a:p>
            <a:pPr marL="0" indent="0">
              <a:buNone/>
            </a:pPr>
            <a:r>
              <a:rPr lang="en-US" b="1" dirty="0"/>
              <a:t>https://colab.research.google.com/drive/17Q6moMRTmp-HeOpTaAuvsDmMVcIIDCsV?authuser=7#scrollTo=E-x8hH67Gd1z</a:t>
            </a:r>
          </a:p>
          <a:p>
            <a:endParaRPr lang="en-US" dirty="0"/>
          </a:p>
        </p:txBody>
      </p:sp>
    </p:spTree>
    <p:extLst>
      <p:ext uri="{BB962C8B-B14F-4D97-AF65-F5344CB8AC3E}">
        <p14:creationId xmlns:p14="http://schemas.microsoft.com/office/powerpoint/2010/main" val="23177973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DC757-E342-4CE8-BD0E-50A0DC95282D}"/>
              </a:ext>
            </a:extLst>
          </p:cNvPr>
          <p:cNvSpPr>
            <a:spLocks noGrp="1"/>
          </p:cNvSpPr>
          <p:nvPr>
            <p:ph type="title"/>
          </p:nvPr>
        </p:nvSpPr>
        <p:spPr/>
        <p:txBody>
          <a:bodyPr>
            <a:normAutofit/>
          </a:bodyPr>
          <a:lstStyle/>
          <a:p>
            <a:r>
              <a:rPr lang="en-US" b="1" dirty="0">
                <a:effectLst/>
              </a:rPr>
              <a:t>Implementing POS Tagging with </a:t>
            </a:r>
            <a:r>
              <a:rPr lang="en-US" b="1" dirty="0" err="1">
                <a:effectLst/>
              </a:rPr>
              <a:t>SpaCy</a:t>
            </a:r>
            <a:endParaRPr lang="en-US" dirty="0"/>
          </a:p>
        </p:txBody>
      </p:sp>
      <p:sp>
        <p:nvSpPr>
          <p:cNvPr id="3" name="Content Placeholder 2">
            <a:extLst>
              <a:ext uri="{FF2B5EF4-FFF2-40B4-BE49-F238E27FC236}">
                <a16:creationId xmlns:a16="http://schemas.microsoft.com/office/drawing/2014/main" id="{79C1178E-5671-5298-F66C-87A372C27A8A}"/>
              </a:ext>
            </a:extLst>
          </p:cNvPr>
          <p:cNvSpPr>
            <a:spLocks noGrp="1"/>
          </p:cNvSpPr>
          <p:nvPr>
            <p:ph idx="1"/>
          </p:nvPr>
        </p:nvSpPr>
        <p:spPr/>
        <p:txBody>
          <a:bodyPr>
            <a:normAutofit lnSpcReduction="10000"/>
          </a:bodyPr>
          <a:lstStyle/>
          <a:p>
            <a:pPr marL="0" indent="0">
              <a:buNone/>
            </a:pPr>
            <a:r>
              <a:rPr lang="en-US" b="1" dirty="0"/>
              <a:t>Step 1: Installing and importing Required Resources</a:t>
            </a:r>
          </a:p>
          <a:p>
            <a:pPr marL="0" indent="0">
              <a:buNone/>
            </a:pPr>
            <a:r>
              <a:rPr lang="en-US" b="1" dirty="0"/>
              <a:t>Step 2: Defining and Processing the Text</a:t>
            </a:r>
          </a:p>
          <a:p>
            <a:pPr marL="0" indent="0">
              <a:buNone/>
            </a:pPr>
            <a:r>
              <a:rPr lang="en-US" b="1" dirty="0"/>
              <a:t>Step 3: Displaying POS Tagging</a:t>
            </a:r>
          </a:p>
          <a:p>
            <a:pPr marL="0" indent="0">
              <a:buNone/>
            </a:pPr>
            <a:endParaRPr lang="en-US" b="1" dirty="0"/>
          </a:p>
          <a:p>
            <a:pPr marL="0" indent="0">
              <a:buNone/>
            </a:pPr>
            <a:r>
              <a:rPr lang="en-US" dirty="0"/>
              <a:t>https://colab.research.google.com/drive/1JP0h3n6oW27hrRxL1UxLjwSD2w5UfnRy?authuser=7#scrollTo=cQ8oG7w_HJG4</a:t>
            </a:r>
          </a:p>
        </p:txBody>
      </p:sp>
    </p:spTree>
    <p:extLst>
      <p:ext uri="{BB962C8B-B14F-4D97-AF65-F5344CB8AC3E}">
        <p14:creationId xmlns:p14="http://schemas.microsoft.com/office/powerpoint/2010/main" val="23464173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3513D-1131-065B-CC10-070E8E50559C}"/>
              </a:ext>
            </a:extLst>
          </p:cNvPr>
          <p:cNvSpPr>
            <a:spLocks noGrp="1"/>
          </p:cNvSpPr>
          <p:nvPr>
            <p:ph type="title"/>
          </p:nvPr>
        </p:nvSpPr>
        <p:spPr/>
        <p:txBody>
          <a:bodyPr>
            <a:normAutofit/>
          </a:bodyPr>
          <a:lstStyle/>
          <a:p>
            <a:r>
              <a:rPr lang="en-US" b="1" dirty="0">
                <a:effectLst/>
              </a:rPr>
              <a:t>Challenges of POS Tagging</a:t>
            </a:r>
            <a:endParaRPr lang="en-US" dirty="0"/>
          </a:p>
        </p:txBody>
      </p:sp>
      <p:sp>
        <p:nvSpPr>
          <p:cNvPr id="3" name="Content Placeholder 2">
            <a:extLst>
              <a:ext uri="{FF2B5EF4-FFF2-40B4-BE49-F238E27FC236}">
                <a16:creationId xmlns:a16="http://schemas.microsoft.com/office/drawing/2014/main" id="{CDAF5F2E-FC09-3EFD-7447-C99627331756}"/>
              </a:ext>
            </a:extLst>
          </p:cNvPr>
          <p:cNvSpPr>
            <a:spLocks noGrp="1"/>
          </p:cNvSpPr>
          <p:nvPr>
            <p:ph idx="1"/>
          </p:nvPr>
        </p:nvSpPr>
        <p:spPr/>
        <p:txBody>
          <a:bodyPr>
            <a:normAutofit fontScale="85000" lnSpcReduction="10000"/>
          </a:bodyPr>
          <a:lstStyle/>
          <a:p>
            <a:pPr fontAlgn="base"/>
            <a:r>
              <a:rPr lang="en-US" b="1" dirty="0"/>
              <a:t>Ambiguity</a:t>
            </a:r>
            <a:r>
              <a:rPr lang="en-US" dirty="0"/>
              <a:t>: Words can have multiple meanings depending on the context which can make tagging difficult.</a:t>
            </a:r>
          </a:p>
          <a:p>
            <a:pPr fontAlgn="base"/>
            <a:r>
              <a:rPr lang="en-US" b="1" dirty="0"/>
              <a:t>Idiomatic Expressions</a:t>
            </a:r>
            <a:r>
              <a:rPr lang="en-US" dirty="0"/>
              <a:t>: Informal language and idioms may be hard to tag correctly.</a:t>
            </a:r>
          </a:p>
          <a:p>
            <a:pPr fontAlgn="base"/>
            <a:r>
              <a:rPr lang="en-US" b="1" dirty="0"/>
              <a:t>Out-of-Vocabulary Words</a:t>
            </a:r>
            <a:r>
              <a:rPr lang="en-US" dirty="0"/>
              <a:t>: Words that haven’t been seen before can lead to incorrect tagging.</a:t>
            </a:r>
          </a:p>
          <a:p>
            <a:pPr fontAlgn="base"/>
            <a:r>
              <a:rPr lang="en-US" b="1" dirty="0"/>
              <a:t>Domain Dependence</a:t>
            </a:r>
            <a:r>
              <a:rPr lang="en-US" dirty="0"/>
              <a:t>: Models may not work well outside the specific language domain they were trained on.</a:t>
            </a:r>
          </a:p>
          <a:p>
            <a:endParaRPr lang="en-US" dirty="0"/>
          </a:p>
        </p:txBody>
      </p:sp>
    </p:spTree>
    <p:extLst>
      <p:ext uri="{BB962C8B-B14F-4D97-AF65-F5344CB8AC3E}">
        <p14:creationId xmlns:p14="http://schemas.microsoft.com/office/powerpoint/2010/main" val="11862011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D8D93-327F-2799-05BC-A4124E49812E}"/>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386A0E8E-49C6-2DB8-B8E9-E087FED1B1CD}"/>
              </a:ext>
            </a:extLst>
          </p:cNvPr>
          <p:cNvSpPr>
            <a:spLocks noGrp="1"/>
          </p:cNvSpPr>
          <p:nvPr>
            <p:ph idx="1"/>
          </p:nvPr>
        </p:nvSpPr>
        <p:spPr>
          <a:xfrm>
            <a:off x="601669" y="1502815"/>
            <a:ext cx="8093365" cy="3206806"/>
          </a:xfrm>
        </p:spPr>
        <p:txBody>
          <a:bodyPr>
            <a:normAutofit fontScale="92500"/>
          </a:bodyPr>
          <a:lstStyle/>
          <a:p>
            <a:pPr marL="0" indent="0" fontAlgn="base">
              <a:buNone/>
            </a:pPr>
            <a:r>
              <a:rPr lang="en-US" b="1" dirty="0"/>
              <a:t>Example</a:t>
            </a:r>
            <a:r>
              <a:rPr lang="en-US" dirty="0"/>
              <a:t>: Consider the sentence: "I am reading a book."</a:t>
            </a:r>
          </a:p>
          <a:p>
            <a:pPr fontAlgn="base"/>
            <a:r>
              <a:rPr lang="en-US" dirty="0"/>
              <a:t>Tokenization: Sentence is broken down into individual tokens or words: ["I", "am", "reading", "a", "book"]</a:t>
            </a:r>
          </a:p>
          <a:p>
            <a:pPr fontAlgn="base"/>
            <a:r>
              <a:rPr lang="en-US" dirty="0"/>
              <a:t>Part-of-Speech Tagging: Each token is assigned a part of speech: ["I" → Pronoun (PRP), "am" → Verb (VBP), "reading" → Verb (VBG), "a" → Article (DT), "book" → Noun (NN)]</a:t>
            </a:r>
          </a:p>
          <a:p>
            <a:endParaRPr lang="en-US" dirty="0"/>
          </a:p>
        </p:txBody>
      </p:sp>
    </p:spTree>
    <p:extLst>
      <p:ext uri="{BB962C8B-B14F-4D97-AF65-F5344CB8AC3E}">
        <p14:creationId xmlns:p14="http://schemas.microsoft.com/office/powerpoint/2010/main" val="37306321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52031-B4F5-C77C-AB42-176A7BC4A8A0}"/>
              </a:ext>
            </a:extLst>
          </p:cNvPr>
          <p:cNvSpPr>
            <a:spLocks noGrp="1"/>
          </p:cNvSpPr>
          <p:nvPr>
            <p:ph type="title"/>
          </p:nvPr>
        </p:nvSpPr>
        <p:spPr/>
        <p:txBody>
          <a:bodyPr/>
          <a:lstStyle/>
          <a:p>
            <a:r>
              <a:rPr lang="en-US" b="1" dirty="0">
                <a:effectLst/>
              </a:rPr>
              <a:t>Importance of Lexical Analysis</a:t>
            </a:r>
            <a:endParaRPr lang="en-US" dirty="0"/>
          </a:p>
        </p:txBody>
      </p:sp>
      <p:sp>
        <p:nvSpPr>
          <p:cNvPr id="3" name="Content Placeholder 2">
            <a:extLst>
              <a:ext uri="{FF2B5EF4-FFF2-40B4-BE49-F238E27FC236}">
                <a16:creationId xmlns:a16="http://schemas.microsoft.com/office/drawing/2014/main" id="{43D97093-7152-78B1-C7C3-A76E2853DB84}"/>
              </a:ext>
            </a:extLst>
          </p:cNvPr>
          <p:cNvSpPr>
            <a:spLocks noGrp="1"/>
          </p:cNvSpPr>
          <p:nvPr>
            <p:ph idx="1"/>
          </p:nvPr>
        </p:nvSpPr>
        <p:spPr/>
        <p:txBody>
          <a:bodyPr/>
          <a:lstStyle/>
          <a:p>
            <a:pPr fontAlgn="base"/>
            <a:r>
              <a:rPr lang="en-US" dirty="0"/>
              <a:t>Word Identification: It breaks text into tokens which helps the system to understand individual words for further processing.</a:t>
            </a:r>
          </a:p>
          <a:p>
            <a:pPr fontAlgn="base"/>
            <a:r>
              <a:rPr lang="en-US" dirty="0"/>
              <a:t>Text Simplification: It simplifies text through tokenization and stemming which improves accuracy in NLP tasks.</a:t>
            </a:r>
          </a:p>
          <a:p>
            <a:endParaRPr lang="en-US" dirty="0"/>
          </a:p>
        </p:txBody>
      </p:sp>
    </p:spTree>
    <p:extLst>
      <p:ext uri="{BB962C8B-B14F-4D97-AF65-F5344CB8AC3E}">
        <p14:creationId xmlns:p14="http://schemas.microsoft.com/office/powerpoint/2010/main" val="22362053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1B2D0-BFFF-67EA-9C78-CCFAFF5B30AC}"/>
              </a:ext>
            </a:extLst>
          </p:cNvPr>
          <p:cNvSpPr>
            <a:spLocks noGrp="1"/>
          </p:cNvSpPr>
          <p:nvPr>
            <p:ph type="title"/>
          </p:nvPr>
        </p:nvSpPr>
        <p:spPr/>
        <p:txBody>
          <a:bodyPr>
            <a:normAutofit/>
          </a:bodyPr>
          <a:lstStyle/>
          <a:p>
            <a:r>
              <a:rPr lang="en-US" b="1" dirty="0">
                <a:effectLst/>
              </a:rPr>
              <a:t>Morphological Analysis</a:t>
            </a:r>
            <a:endParaRPr lang="en-US" dirty="0"/>
          </a:p>
        </p:txBody>
      </p:sp>
      <p:sp>
        <p:nvSpPr>
          <p:cNvPr id="3" name="Content Placeholder 2">
            <a:extLst>
              <a:ext uri="{FF2B5EF4-FFF2-40B4-BE49-F238E27FC236}">
                <a16:creationId xmlns:a16="http://schemas.microsoft.com/office/drawing/2014/main" id="{27B210B5-673C-2D22-DBFD-00AD3D7EF03C}"/>
              </a:ext>
            </a:extLst>
          </p:cNvPr>
          <p:cNvSpPr>
            <a:spLocks noGrp="1"/>
          </p:cNvSpPr>
          <p:nvPr>
            <p:ph idx="1"/>
          </p:nvPr>
        </p:nvSpPr>
        <p:spPr/>
        <p:txBody>
          <a:bodyPr/>
          <a:lstStyle/>
          <a:p>
            <a:r>
              <a:rPr lang="en-US" dirty="0"/>
              <a:t>It deals with </a:t>
            </a:r>
            <a:r>
              <a:rPr lang="en-US" b="1" dirty="0"/>
              <a:t>morphemes </a:t>
            </a:r>
            <a:r>
              <a:rPr lang="en-US" dirty="0"/>
              <a:t>which are the smallest units of meaning in a word. It is important for understanding structure of words and their parts by identifying free morphemes (independent words like "cat") and bound morphemes (like prefixes or suffixes e.g. "un-" or "-</a:t>
            </a:r>
            <a:r>
              <a:rPr lang="en-US" dirty="0" err="1"/>
              <a:t>ing</a:t>
            </a:r>
            <a:r>
              <a:rPr lang="en-US" dirty="0"/>
              <a:t>").</a:t>
            </a:r>
          </a:p>
        </p:txBody>
      </p:sp>
    </p:spTree>
    <p:extLst>
      <p:ext uri="{BB962C8B-B14F-4D97-AF65-F5344CB8AC3E}">
        <p14:creationId xmlns:p14="http://schemas.microsoft.com/office/powerpoint/2010/main" val="41902016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59C29-7B8E-FB7E-874C-DD3F875AE110}"/>
              </a:ext>
            </a:extLst>
          </p:cNvPr>
          <p:cNvSpPr>
            <a:spLocks noGrp="1"/>
          </p:cNvSpPr>
          <p:nvPr>
            <p:ph type="title"/>
          </p:nvPr>
        </p:nvSpPr>
        <p:spPr/>
        <p:txBody>
          <a:bodyPr/>
          <a:lstStyle/>
          <a:p>
            <a:r>
              <a:rPr lang="en-US" b="1" dirty="0">
                <a:effectLst/>
              </a:rPr>
              <a:t>Key tasks in morphological analysis:</a:t>
            </a:r>
            <a:endParaRPr lang="en-US" dirty="0"/>
          </a:p>
        </p:txBody>
      </p:sp>
      <p:sp>
        <p:nvSpPr>
          <p:cNvPr id="3" name="Content Placeholder 2">
            <a:extLst>
              <a:ext uri="{FF2B5EF4-FFF2-40B4-BE49-F238E27FC236}">
                <a16:creationId xmlns:a16="http://schemas.microsoft.com/office/drawing/2014/main" id="{BD323DB2-3FF0-3646-879C-735C602E5EE6}"/>
              </a:ext>
            </a:extLst>
          </p:cNvPr>
          <p:cNvSpPr>
            <a:spLocks noGrp="1"/>
          </p:cNvSpPr>
          <p:nvPr>
            <p:ph idx="1"/>
          </p:nvPr>
        </p:nvSpPr>
        <p:spPr/>
        <p:txBody>
          <a:bodyPr/>
          <a:lstStyle/>
          <a:p>
            <a:pPr fontAlgn="base"/>
            <a:r>
              <a:rPr lang="en-US" b="1" u="sng" dirty="0">
                <a:hlinkClick r:id="rId2"/>
              </a:rPr>
              <a:t>Stemming</a:t>
            </a:r>
            <a:r>
              <a:rPr lang="en-US" dirty="0"/>
              <a:t>: Reducing words to their root form like "running" to "run".</a:t>
            </a:r>
          </a:p>
          <a:p>
            <a:pPr fontAlgn="base"/>
            <a:r>
              <a:rPr lang="en-US" b="1" u="sng" dirty="0">
                <a:hlinkClick r:id="rId3"/>
              </a:rPr>
              <a:t>Lemmatization</a:t>
            </a:r>
            <a:r>
              <a:rPr lang="en-US" dirty="0"/>
              <a:t>: Converting words to their base or dictionary form considering the context like "better" becomes "good".</a:t>
            </a:r>
          </a:p>
          <a:p>
            <a:endParaRPr lang="en-US" dirty="0"/>
          </a:p>
        </p:txBody>
      </p:sp>
    </p:spTree>
    <p:extLst>
      <p:ext uri="{BB962C8B-B14F-4D97-AF65-F5344CB8AC3E}">
        <p14:creationId xmlns:p14="http://schemas.microsoft.com/office/powerpoint/2010/main" val="12999356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59827-4B8D-591A-7AA5-1B7B4C932DAF}"/>
              </a:ext>
            </a:extLst>
          </p:cNvPr>
          <p:cNvSpPr>
            <a:spLocks noGrp="1"/>
          </p:cNvSpPr>
          <p:nvPr>
            <p:ph type="title"/>
          </p:nvPr>
        </p:nvSpPr>
        <p:spPr/>
        <p:txBody>
          <a:bodyPr>
            <a:normAutofit/>
          </a:bodyPr>
          <a:lstStyle/>
          <a:p>
            <a:r>
              <a:rPr lang="en-US" b="1" dirty="0">
                <a:effectLst/>
              </a:rPr>
              <a:t>Stemming</a:t>
            </a:r>
            <a:endParaRPr lang="en-US" dirty="0"/>
          </a:p>
        </p:txBody>
      </p:sp>
      <p:sp>
        <p:nvSpPr>
          <p:cNvPr id="3" name="Content Placeholder 2">
            <a:extLst>
              <a:ext uri="{FF2B5EF4-FFF2-40B4-BE49-F238E27FC236}">
                <a16:creationId xmlns:a16="http://schemas.microsoft.com/office/drawing/2014/main" id="{1B80C9D6-0A49-0BD8-CEF8-3A5C18182CF1}"/>
              </a:ext>
            </a:extLst>
          </p:cNvPr>
          <p:cNvSpPr>
            <a:spLocks noGrp="1"/>
          </p:cNvSpPr>
          <p:nvPr>
            <p:ph idx="1"/>
          </p:nvPr>
        </p:nvSpPr>
        <p:spPr>
          <a:xfrm>
            <a:off x="601670" y="1502815"/>
            <a:ext cx="7940660" cy="3206806"/>
          </a:xfrm>
        </p:spPr>
        <p:txBody>
          <a:bodyPr>
            <a:normAutofit/>
          </a:bodyPr>
          <a:lstStyle/>
          <a:p>
            <a:pPr marL="0" indent="0">
              <a:buNone/>
            </a:pPr>
            <a:r>
              <a:rPr lang="en-US" dirty="0"/>
              <a:t>Stemming is an important text-processing technique that reduces words to their base or root form by removing prefixes and suffixes. This process standardizes words which helps to improve the efficiency and effectiveness of various natural language processing (NLP) tasks.</a:t>
            </a:r>
          </a:p>
        </p:txBody>
      </p:sp>
    </p:spTree>
    <p:extLst>
      <p:ext uri="{BB962C8B-B14F-4D97-AF65-F5344CB8AC3E}">
        <p14:creationId xmlns:p14="http://schemas.microsoft.com/office/powerpoint/2010/main" val="28600247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B09F72-51B5-35F7-0082-32E786454CFC}"/>
              </a:ext>
            </a:extLst>
          </p:cNvPr>
          <p:cNvPicPr>
            <a:picLocks noChangeAspect="1"/>
          </p:cNvPicPr>
          <p:nvPr/>
        </p:nvPicPr>
        <p:blipFill>
          <a:blip r:embed="rId2"/>
          <a:stretch>
            <a:fillRect/>
          </a:stretch>
        </p:blipFill>
        <p:spPr>
          <a:xfrm>
            <a:off x="1212490" y="1197405"/>
            <a:ext cx="7024430" cy="3531880"/>
          </a:xfrm>
          <a:prstGeom prst="rect">
            <a:avLst/>
          </a:prstGeom>
        </p:spPr>
      </p:pic>
    </p:spTree>
    <p:extLst>
      <p:ext uri="{BB962C8B-B14F-4D97-AF65-F5344CB8AC3E}">
        <p14:creationId xmlns:p14="http://schemas.microsoft.com/office/powerpoint/2010/main" val="1712905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B608B-0F83-C928-74FF-4EA7B206DDFC}"/>
              </a:ext>
            </a:extLst>
          </p:cNvPr>
          <p:cNvSpPr>
            <a:spLocks noGrp="1"/>
          </p:cNvSpPr>
          <p:nvPr>
            <p:ph type="title"/>
          </p:nvPr>
        </p:nvSpPr>
        <p:spPr/>
        <p:txBody>
          <a:bodyPr/>
          <a:lstStyle/>
          <a:p>
            <a:r>
              <a:rPr lang="en-US" dirty="0"/>
              <a:t>Stemming</a:t>
            </a:r>
          </a:p>
        </p:txBody>
      </p:sp>
      <p:sp>
        <p:nvSpPr>
          <p:cNvPr id="3" name="Content Placeholder 2">
            <a:extLst>
              <a:ext uri="{FF2B5EF4-FFF2-40B4-BE49-F238E27FC236}">
                <a16:creationId xmlns:a16="http://schemas.microsoft.com/office/drawing/2014/main" id="{4DA4F348-33FC-E30F-0918-355C800BE5AA}"/>
              </a:ext>
            </a:extLst>
          </p:cNvPr>
          <p:cNvSpPr>
            <a:spLocks noGrp="1"/>
          </p:cNvSpPr>
          <p:nvPr>
            <p:ph idx="1"/>
          </p:nvPr>
        </p:nvSpPr>
        <p:spPr>
          <a:xfrm>
            <a:off x="601670" y="1502815"/>
            <a:ext cx="7940660" cy="3359510"/>
          </a:xfrm>
        </p:spPr>
        <p:txBody>
          <a:bodyPr>
            <a:noAutofit/>
          </a:bodyPr>
          <a:lstStyle/>
          <a:p>
            <a:pPr marL="0" indent="0" fontAlgn="base">
              <a:buNone/>
            </a:pPr>
            <a:r>
              <a:rPr lang="en-US" sz="1600" dirty="0"/>
              <a:t>It simplifies words to their most basic form, making it easier to analyze and process text. For example, "chocolates" becomes "chocolate" and "retrieval" becomes "retrieve". This is important in the early stages of NLP tasks where words are extracted from a document and tokenized (broken into individual words).</a:t>
            </a:r>
          </a:p>
          <a:p>
            <a:pPr marL="0" indent="0" fontAlgn="base">
              <a:buNone/>
            </a:pPr>
            <a:r>
              <a:rPr lang="en-US" sz="1600" dirty="0"/>
              <a:t>It helps in tasks such as</a:t>
            </a:r>
            <a:r>
              <a:rPr lang="en-US" sz="1600" u="sng" dirty="0">
                <a:hlinkClick r:id="rId2"/>
              </a:rPr>
              <a:t> text classification</a:t>
            </a:r>
            <a:r>
              <a:rPr lang="en-US" sz="1600" dirty="0"/>
              <a:t>, </a:t>
            </a:r>
            <a:r>
              <a:rPr lang="en-US" sz="1600" u="sng" dirty="0">
                <a:hlinkClick r:id="rId3"/>
              </a:rPr>
              <a:t>information retrieval</a:t>
            </a:r>
            <a:r>
              <a:rPr lang="en-US" sz="1600" dirty="0"/>
              <a:t> and </a:t>
            </a:r>
            <a:r>
              <a:rPr lang="en-US" sz="1600" u="sng" dirty="0">
                <a:hlinkClick r:id="rId4"/>
              </a:rPr>
              <a:t>text summarization</a:t>
            </a:r>
            <a:r>
              <a:rPr lang="en-US" sz="1600" dirty="0"/>
              <a:t> by reducing words to a base form. While it is effective, it can sometimes introduce drawbacks including potential inaccuracies and a reduction in text readability.</a:t>
            </a:r>
          </a:p>
          <a:p>
            <a:pPr marL="0" indent="0" fontAlgn="base">
              <a:buNone/>
            </a:pPr>
            <a:r>
              <a:rPr lang="en-US" sz="1600" dirty="0"/>
              <a:t>Examples of stemming for the word "like":</a:t>
            </a:r>
          </a:p>
          <a:p>
            <a:pPr marL="0" indent="0" fontAlgn="base">
              <a:buNone/>
            </a:pPr>
            <a:r>
              <a:rPr lang="en-US" sz="1600" dirty="0"/>
              <a:t>"likes" → "like"</a:t>
            </a:r>
          </a:p>
          <a:p>
            <a:pPr marL="0" indent="0" fontAlgn="base">
              <a:buNone/>
            </a:pPr>
            <a:r>
              <a:rPr lang="en-US" sz="1600" dirty="0"/>
              <a:t>"liked" → "like"</a:t>
            </a:r>
          </a:p>
          <a:p>
            <a:pPr marL="0" indent="0" fontAlgn="base">
              <a:buNone/>
            </a:pPr>
            <a:r>
              <a:rPr lang="en-US" sz="1600" dirty="0"/>
              <a:t>"likely" → "like"</a:t>
            </a:r>
          </a:p>
          <a:p>
            <a:pPr marL="0" indent="0" fontAlgn="base">
              <a:buNone/>
            </a:pPr>
            <a:r>
              <a:rPr lang="en-US" sz="1600" dirty="0"/>
              <a:t>"liking" → "like"</a:t>
            </a:r>
          </a:p>
        </p:txBody>
      </p:sp>
    </p:spTree>
    <p:extLst>
      <p:ext uri="{BB962C8B-B14F-4D97-AF65-F5344CB8AC3E}">
        <p14:creationId xmlns:p14="http://schemas.microsoft.com/office/powerpoint/2010/main" val="2790202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425D04-FDAF-0ED4-1044-C020348FF114}"/>
              </a:ext>
            </a:extLst>
          </p:cNvPr>
          <p:cNvPicPr>
            <a:picLocks noChangeAspect="1"/>
          </p:cNvPicPr>
          <p:nvPr/>
        </p:nvPicPr>
        <p:blipFill>
          <a:blip r:embed="rId2"/>
          <a:stretch>
            <a:fillRect/>
          </a:stretch>
        </p:blipFill>
        <p:spPr>
          <a:xfrm>
            <a:off x="3229090" y="1476533"/>
            <a:ext cx="5313240" cy="2622267"/>
          </a:xfrm>
          <a:prstGeom prst="rect">
            <a:avLst/>
          </a:prstGeom>
        </p:spPr>
      </p:pic>
      <p:sp>
        <p:nvSpPr>
          <p:cNvPr id="4" name="Title 3">
            <a:extLst>
              <a:ext uri="{FF2B5EF4-FFF2-40B4-BE49-F238E27FC236}">
                <a16:creationId xmlns:a16="http://schemas.microsoft.com/office/drawing/2014/main" id="{B0379C5D-B22C-870E-9225-DF249326F0D1}"/>
              </a:ext>
            </a:extLst>
          </p:cNvPr>
          <p:cNvSpPr>
            <a:spLocks noGrp="1"/>
          </p:cNvSpPr>
          <p:nvPr>
            <p:ph type="title"/>
          </p:nvPr>
        </p:nvSpPr>
        <p:spPr/>
        <p:txBody>
          <a:bodyPr>
            <a:normAutofit/>
          </a:bodyPr>
          <a:lstStyle/>
          <a:p>
            <a:r>
              <a:rPr lang="en-US" b="1" dirty="0">
                <a:effectLst/>
              </a:rPr>
              <a:t>Types of Stemmer in NLTK </a:t>
            </a:r>
            <a:endParaRPr lang="en-US" dirty="0"/>
          </a:p>
        </p:txBody>
      </p:sp>
      <p:sp>
        <p:nvSpPr>
          <p:cNvPr id="7" name="TextBox 6">
            <a:extLst>
              <a:ext uri="{FF2B5EF4-FFF2-40B4-BE49-F238E27FC236}">
                <a16:creationId xmlns:a16="http://schemas.microsoft.com/office/drawing/2014/main" id="{779A7949-870B-4BDC-DA9F-38ECEB225604}"/>
              </a:ext>
            </a:extLst>
          </p:cNvPr>
          <p:cNvSpPr txBox="1"/>
          <p:nvPr/>
        </p:nvSpPr>
        <p:spPr>
          <a:xfrm>
            <a:off x="296260" y="4251505"/>
            <a:ext cx="8542330" cy="646331"/>
          </a:xfrm>
          <a:prstGeom prst="rect">
            <a:avLst/>
          </a:prstGeom>
          <a:noFill/>
        </p:spPr>
        <p:txBody>
          <a:bodyPr wrap="square">
            <a:spAutoFit/>
          </a:bodyPr>
          <a:lstStyle/>
          <a:p>
            <a:r>
              <a:rPr lang="en-US" dirty="0">
                <a:solidFill>
                  <a:schemeClr val="bg1"/>
                </a:solidFill>
              </a:rPr>
              <a:t>https://colab.research.google.com/drive/1_r9rSNh5O2qcL6MVRe3fGTMocoE2sBOw?authuser=7#scrollTo=XIaF2OWVK5MS</a:t>
            </a:r>
          </a:p>
        </p:txBody>
      </p:sp>
    </p:spTree>
    <p:extLst>
      <p:ext uri="{BB962C8B-B14F-4D97-AF65-F5344CB8AC3E}">
        <p14:creationId xmlns:p14="http://schemas.microsoft.com/office/powerpoint/2010/main" val="34138405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B1BCB-3049-CE7F-1510-2B5F4ECB0FBE}"/>
              </a:ext>
            </a:extLst>
          </p:cNvPr>
          <p:cNvSpPr>
            <a:spLocks noGrp="1"/>
          </p:cNvSpPr>
          <p:nvPr>
            <p:ph type="title"/>
          </p:nvPr>
        </p:nvSpPr>
        <p:spPr/>
        <p:txBody>
          <a:bodyPr>
            <a:normAutofit/>
          </a:bodyPr>
          <a:lstStyle/>
          <a:p>
            <a:r>
              <a:rPr lang="en-US" b="1" dirty="0">
                <a:effectLst/>
              </a:rPr>
              <a:t>Lemmatization</a:t>
            </a:r>
            <a:endParaRPr lang="en-US" dirty="0"/>
          </a:p>
        </p:txBody>
      </p:sp>
      <p:sp>
        <p:nvSpPr>
          <p:cNvPr id="3" name="Content Placeholder 2">
            <a:extLst>
              <a:ext uri="{FF2B5EF4-FFF2-40B4-BE49-F238E27FC236}">
                <a16:creationId xmlns:a16="http://schemas.microsoft.com/office/drawing/2014/main" id="{B639B0A5-010E-23F1-B9FB-484EA992B6A3}"/>
              </a:ext>
            </a:extLst>
          </p:cNvPr>
          <p:cNvSpPr>
            <a:spLocks noGrp="1"/>
          </p:cNvSpPr>
          <p:nvPr>
            <p:ph idx="1"/>
          </p:nvPr>
        </p:nvSpPr>
        <p:spPr>
          <a:xfrm>
            <a:off x="296261" y="1808225"/>
            <a:ext cx="4275740" cy="2748690"/>
          </a:xfrm>
        </p:spPr>
        <p:txBody>
          <a:bodyPr>
            <a:normAutofit fontScale="62500" lnSpcReduction="20000"/>
          </a:bodyPr>
          <a:lstStyle/>
          <a:p>
            <a:pPr marL="0" indent="0">
              <a:buNone/>
            </a:pPr>
            <a:r>
              <a:rPr lang="en-US" dirty="0"/>
              <a:t>Lemmatization is an important text pre-processing technique in Natural Language Processing (NLP) that reduces words to their base form known as a "lemma." For example, the lemma of "running" is "run" and "better" becomes "good." Unlike </a:t>
            </a:r>
            <a:r>
              <a:rPr lang="en-US" u="sng" dirty="0">
                <a:hlinkClick r:id="rId2"/>
              </a:rPr>
              <a:t>stemming</a:t>
            </a:r>
            <a:r>
              <a:rPr lang="en-US" dirty="0"/>
              <a:t> which simply removes prefixes or suffixes, it considers the word's meaning and </a:t>
            </a:r>
            <a:r>
              <a:rPr lang="en-US" u="sng" dirty="0">
                <a:hlinkClick r:id="rId3"/>
              </a:rPr>
              <a:t>part of speech (POS)</a:t>
            </a:r>
            <a:r>
              <a:rPr lang="en-US" dirty="0"/>
              <a:t> and ensures that the base form is a valid word. This makes lemmatization more accurate as it avoids generating non-dictionary words.</a:t>
            </a:r>
          </a:p>
        </p:txBody>
      </p:sp>
      <p:pic>
        <p:nvPicPr>
          <p:cNvPr id="5" name="Picture 4">
            <a:extLst>
              <a:ext uri="{FF2B5EF4-FFF2-40B4-BE49-F238E27FC236}">
                <a16:creationId xmlns:a16="http://schemas.microsoft.com/office/drawing/2014/main" id="{F4B5B270-5C4E-F933-47D8-9DE6CFB17422}"/>
              </a:ext>
            </a:extLst>
          </p:cNvPr>
          <p:cNvPicPr>
            <a:picLocks noChangeAspect="1"/>
          </p:cNvPicPr>
          <p:nvPr/>
        </p:nvPicPr>
        <p:blipFill>
          <a:blip r:embed="rId4"/>
          <a:stretch>
            <a:fillRect/>
          </a:stretch>
        </p:blipFill>
        <p:spPr>
          <a:xfrm>
            <a:off x="5030115" y="1960930"/>
            <a:ext cx="4023907" cy="2217649"/>
          </a:xfrm>
          <a:prstGeom prst="rect">
            <a:avLst/>
          </a:prstGeom>
        </p:spPr>
      </p:pic>
    </p:spTree>
    <p:extLst>
      <p:ext uri="{BB962C8B-B14F-4D97-AF65-F5344CB8AC3E}">
        <p14:creationId xmlns:p14="http://schemas.microsoft.com/office/powerpoint/2010/main" val="37645465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BAD35-6CD1-E477-6237-C1BC2A8A6118}"/>
              </a:ext>
            </a:extLst>
          </p:cNvPr>
          <p:cNvSpPr>
            <a:spLocks noGrp="1"/>
          </p:cNvSpPr>
          <p:nvPr>
            <p:ph type="title"/>
          </p:nvPr>
        </p:nvSpPr>
        <p:spPr/>
        <p:txBody>
          <a:bodyPr/>
          <a:lstStyle/>
          <a:p>
            <a:r>
              <a:rPr lang="en-US" dirty="0"/>
              <a:t>Importance of lemmatization</a:t>
            </a:r>
          </a:p>
        </p:txBody>
      </p:sp>
      <p:sp>
        <p:nvSpPr>
          <p:cNvPr id="3" name="Content Placeholder 2">
            <a:extLst>
              <a:ext uri="{FF2B5EF4-FFF2-40B4-BE49-F238E27FC236}">
                <a16:creationId xmlns:a16="http://schemas.microsoft.com/office/drawing/2014/main" id="{1DCA0058-A798-E1E6-AD4E-FBEBCF6BA9E9}"/>
              </a:ext>
            </a:extLst>
          </p:cNvPr>
          <p:cNvSpPr>
            <a:spLocks noGrp="1"/>
          </p:cNvSpPr>
          <p:nvPr>
            <p:ph idx="1"/>
          </p:nvPr>
        </p:nvSpPr>
        <p:spPr/>
        <p:txBody>
          <a:bodyPr>
            <a:normAutofit fontScale="77500" lnSpcReduction="20000"/>
          </a:bodyPr>
          <a:lstStyle/>
          <a:p>
            <a:pPr fontAlgn="base"/>
            <a:r>
              <a:rPr lang="en-US" b="1" dirty="0"/>
              <a:t>Improves accuracy:</a:t>
            </a:r>
            <a:r>
              <a:rPr lang="en-US" dirty="0"/>
              <a:t> It ensures words with similar meanings like "running" and "ran" are treated as the same.</a:t>
            </a:r>
          </a:p>
          <a:p>
            <a:pPr fontAlgn="base"/>
            <a:r>
              <a:rPr lang="en-US" b="1" dirty="0"/>
              <a:t>Reduced Data Redundancy:</a:t>
            </a:r>
            <a:r>
              <a:rPr lang="en-US" dirty="0"/>
              <a:t> By reducing words to their base forms, it reduces redundancy in the dataset. This leads to smaller datasets which makes it easier to handle and process large amounts of text for analysis or training machine learning models.</a:t>
            </a:r>
          </a:p>
          <a:p>
            <a:pPr fontAlgn="base"/>
            <a:r>
              <a:rPr lang="en-US" b="1" dirty="0"/>
              <a:t>Better NLP Model Performance: </a:t>
            </a:r>
            <a:r>
              <a:rPr lang="en-US" dirty="0"/>
              <a:t>By treating all similar word as same, it improves the performance of NLP models by making text more consistent. For example, treating "running," "ran" and "runs" as the same word improves the model's understanding of context and meaning.</a:t>
            </a:r>
          </a:p>
          <a:p>
            <a:endParaRPr lang="en-US" dirty="0"/>
          </a:p>
        </p:txBody>
      </p:sp>
    </p:spTree>
    <p:extLst>
      <p:ext uri="{BB962C8B-B14F-4D97-AF65-F5344CB8AC3E}">
        <p14:creationId xmlns:p14="http://schemas.microsoft.com/office/powerpoint/2010/main" val="30714746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5A4DD-5CDE-15EE-0150-FBBE488DAB77}"/>
              </a:ext>
            </a:extLst>
          </p:cNvPr>
          <p:cNvSpPr>
            <a:spLocks noGrp="1"/>
          </p:cNvSpPr>
          <p:nvPr>
            <p:ph type="title"/>
          </p:nvPr>
        </p:nvSpPr>
        <p:spPr/>
        <p:txBody>
          <a:bodyPr>
            <a:normAutofit fontScale="90000"/>
          </a:bodyPr>
          <a:lstStyle/>
          <a:p>
            <a:r>
              <a:rPr lang="en-US" b="1" dirty="0">
                <a:effectLst/>
              </a:rPr>
              <a:t>Lemmatization Techniques</a:t>
            </a:r>
            <a:br>
              <a:rPr lang="en-US" b="1" dirty="0">
                <a:effectLst/>
              </a:rPr>
            </a:br>
            <a:endParaRPr lang="en-US" dirty="0"/>
          </a:p>
        </p:txBody>
      </p:sp>
      <p:sp>
        <p:nvSpPr>
          <p:cNvPr id="3" name="Content Placeholder 2">
            <a:extLst>
              <a:ext uri="{FF2B5EF4-FFF2-40B4-BE49-F238E27FC236}">
                <a16:creationId xmlns:a16="http://schemas.microsoft.com/office/drawing/2014/main" id="{1F5F8BD0-BAFD-169A-4318-D0A86BA67D92}"/>
              </a:ext>
            </a:extLst>
          </p:cNvPr>
          <p:cNvSpPr>
            <a:spLocks noGrp="1"/>
          </p:cNvSpPr>
          <p:nvPr>
            <p:ph idx="1"/>
          </p:nvPr>
        </p:nvSpPr>
        <p:spPr/>
        <p:txBody>
          <a:bodyPr>
            <a:normAutofit fontScale="70000" lnSpcReduction="20000"/>
          </a:bodyPr>
          <a:lstStyle/>
          <a:p>
            <a:pPr fontAlgn="base"/>
            <a:r>
              <a:rPr lang="en-US" b="1" dirty="0"/>
              <a:t>1. Rule Based Lemmatization</a:t>
            </a:r>
          </a:p>
          <a:p>
            <a:pPr fontAlgn="base"/>
            <a:r>
              <a:rPr lang="en-US" dirty="0"/>
              <a:t>In rule-based lemmatization, predefined rules are applied to a word to remove suffixes and get the root form. This approach works well for regular words but may not handle irregularities well.</a:t>
            </a:r>
          </a:p>
          <a:p>
            <a:pPr fontAlgn="base"/>
            <a:r>
              <a:rPr lang="en-US" b="1" i="1" dirty="0"/>
              <a:t>For example:</a:t>
            </a:r>
            <a:endParaRPr lang="en-US" i="1" dirty="0"/>
          </a:p>
          <a:p>
            <a:pPr fontAlgn="base"/>
            <a:r>
              <a:rPr lang="en-US" b="1" i="1" dirty="0"/>
              <a:t>Rule:</a:t>
            </a:r>
            <a:r>
              <a:rPr lang="en-US" i="1" dirty="0"/>
              <a:t> For regular verbs ending in "-ed," remove the "-ed" suffix.</a:t>
            </a:r>
          </a:p>
          <a:p>
            <a:pPr fontAlgn="base"/>
            <a:r>
              <a:rPr lang="en-US" i="1" dirty="0"/>
              <a:t>Example: "walked" -&gt; "walk"</a:t>
            </a:r>
          </a:p>
          <a:p>
            <a:pPr fontAlgn="base"/>
            <a:r>
              <a:rPr lang="en-US" dirty="0"/>
              <a:t>While this method is simple and interpretable, it doesn't account for irregular word forms like "better" which should be lemmatized to "good".</a:t>
            </a:r>
          </a:p>
          <a:p>
            <a:endParaRPr lang="en-US" dirty="0"/>
          </a:p>
        </p:txBody>
      </p:sp>
    </p:spTree>
    <p:extLst>
      <p:ext uri="{BB962C8B-B14F-4D97-AF65-F5344CB8AC3E}">
        <p14:creationId xmlns:p14="http://schemas.microsoft.com/office/powerpoint/2010/main" val="11692794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C987F-236F-FDCF-61FB-E85F50F4F8BD}"/>
              </a:ext>
            </a:extLst>
          </p:cNvPr>
          <p:cNvSpPr>
            <a:spLocks noGrp="1"/>
          </p:cNvSpPr>
          <p:nvPr>
            <p:ph type="title"/>
          </p:nvPr>
        </p:nvSpPr>
        <p:spPr/>
        <p:txBody>
          <a:bodyPr>
            <a:normAutofit/>
          </a:bodyPr>
          <a:lstStyle/>
          <a:p>
            <a:r>
              <a:rPr lang="en-US" b="1" dirty="0"/>
              <a:t>2. Dictionary-Based Lemmatization</a:t>
            </a:r>
            <a:endParaRPr lang="en-US" dirty="0"/>
          </a:p>
        </p:txBody>
      </p:sp>
      <p:sp>
        <p:nvSpPr>
          <p:cNvPr id="3" name="Content Placeholder 2">
            <a:extLst>
              <a:ext uri="{FF2B5EF4-FFF2-40B4-BE49-F238E27FC236}">
                <a16:creationId xmlns:a16="http://schemas.microsoft.com/office/drawing/2014/main" id="{34D8D3CF-9F3A-F5EE-C784-0E73CBF3BE18}"/>
              </a:ext>
            </a:extLst>
          </p:cNvPr>
          <p:cNvSpPr>
            <a:spLocks noGrp="1"/>
          </p:cNvSpPr>
          <p:nvPr>
            <p:ph idx="1"/>
          </p:nvPr>
        </p:nvSpPr>
        <p:spPr/>
        <p:txBody>
          <a:bodyPr>
            <a:normAutofit fontScale="62500" lnSpcReduction="20000"/>
          </a:bodyPr>
          <a:lstStyle/>
          <a:p>
            <a:pPr fontAlgn="base"/>
            <a:r>
              <a:rPr lang="en-US" dirty="0"/>
              <a:t>It uses a predefined dictionary or lexicon such as WordNet to look up the base form of a word. This method is more accurate than rule-based lemmatization because it accounts for exceptions and irregular words.</a:t>
            </a:r>
          </a:p>
          <a:p>
            <a:pPr fontAlgn="base"/>
            <a:r>
              <a:rPr lang="en-US" b="1" i="1" dirty="0"/>
              <a:t>For example:</a:t>
            </a:r>
            <a:endParaRPr lang="en-US" i="1" dirty="0"/>
          </a:p>
          <a:p>
            <a:pPr fontAlgn="base"/>
            <a:r>
              <a:rPr lang="en-US" i="1" dirty="0"/>
              <a:t>'running' -&gt; 'run'</a:t>
            </a:r>
          </a:p>
          <a:p>
            <a:pPr fontAlgn="base"/>
            <a:r>
              <a:rPr lang="en-US" i="1" dirty="0"/>
              <a:t>'better' -&gt; 'good'</a:t>
            </a:r>
          </a:p>
          <a:p>
            <a:pPr fontAlgn="base"/>
            <a:r>
              <a:rPr lang="en-US" i="1" dirty="0"/>
              <a:t>'went' -&gt; 'go</a:t>
            </a:r>
          </a:p>
          <a:p>
            <a:pPr fontAlgn="base"/>
            <a:r>
              <a:rPr lang="en-US" i="1" dirty="0"/>
              <a:t>"I was running to become a better athlete and then I went home," -&gt; "I was run to become a good athlete and then I go home."</a:t>
            </a:r>
          </a:p>
          <a:p>
            <a:pPr fontAlgn="base"/>
            <a:r>
              <a:rPr lang="en-US" dirty="0"/>
              <a:t>By using dictionaries like WordNet this method can handle a range of words effectively, especially in languages with well-established dictionaries.</a:t>
            </a:r>
          </a:p>
          <a:p>
            <a:endParaRPr lang="en-US" dirty="0"/>
          </a:p>
        </p:txBody>
      </p:sp>
    </p:spTree>
    <p:extLst>
      <p:ext uri="{BB962C8B-B14F-4D97-AF65-F5344CB8AC3E}">
        <p14:creationId xmlns:p14="http://schemas.microsoft.com/office/powerpoint/2010/main" val="3966886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061F5-B5D0-2EDD-4659-EA37A2086C15}"/>
              </a:ext>
            </a:extLst>
          </p:cNvPr>
          <p:cNvSpPr>
            <a:spLocks noGrp="1"/>
          </p:cNvSpPr>
          <p:nvPr>
            <p:ph type="title"/>
          </p:nvPr>
        </p:nvSpPr>
        <p:spPr/>
        <p:txBody>
          <a:bodyPr>
            <a:normAutofit fontScale="90000"/>
          </a:bodyPr>
          <a:lstStyle/>
          <a:p>
            <a:r>
              <a:rPr lang="en-US" b="1" dirty="0">
                <a:effectLst/>
              </a:rPr>
              <a:t>3. Machine Learning-Based Lemmatization</a:t>
            </a:r>
            <a:endParaRPr lang="en-US" dirty="0"/>
          </a:p>
        </p:txBody>
      </p:sp>
      <p:sp>
        <p:nvSpPr>
          <p:cNvPr id="3" name="Content Placeholder 2">
            <a:extLst>
              <a:ext uri="{FF2B5EF4-FFF2-40B4-BE49-F238E27FC236}">
                <a16:creationId xmlns:a16="http://schemas.microsoft.com/office/drawing/2014/main" id="{1796B5DA-355E-E89C-4D84-34C7C47F2E7D}"/>
              </a:ext>
            </a:extLst>
          </p:cNvPr>
          <p:cNvSpPr>
            <a:spLocks noGrp="1"/>
          </p:cNvSpPr>
          <p:nvPr>
            <p:ph idx="1"/>
          </p:nvPr>
        </p:nvSpPr>
        <p:spPr/>
        <p:txBody>
          <a:bodyPr>
            <a:normAutofit fontScale="70000" lnSpcReduction="20000"/>
          </a:bodyPr>
          <a:lstStyle/>
          <a:p>
            <a:pPr fontAlgn="base"/>
            <a:r>
              <a:rPr lang="en-US" dirty="0"/>
              <a:t>It uses algorithms trained on large datasets to automatically identify the base form of words. This approach is highly flexible and can handle irregular words and linguistic nuances better than the rule-based and dictionary-based methods.</a:t>
            </a:r>
          </a:p>
          <a:p>
            <a:pPr fontAlgn="base"/>
            <a:r>
              <a:rPr lang="en-US" b="1" i="1" dirty="0"/>
              <a:t>For example:</a:t>
            </a:r>
            <a:endParaRPr lang="en-US" i="1" dirty="0"/>
          </a:p>
          <a:p>
            <a:pPr fontAlgn="base"/>
            <a:r>
              <a:rPr lang="en-US" i="1" dirty="0"/>
              <a:t>A trained model may deduce that “went” corresponds to “go” even though the suffix removal rule doesn’t apply. Similarly, for 'happier' the model deduces 'happy' as the lemma. </a:t>
            </a:r>
          </a:p>
          <a:p>
            <a:pPr fontAlgn="base"/>
            <a:r>
              <a:rPr lang="en-US" dirty="0"/>
              <a:t>Machine learning-based </a:t>
            </a:r>
            <a:r>
              <a:rPr lang="en-US" dirty="0" err="1"/>
              <a:t>lemmatizers</a:t>
            </a:r>
            <a:r>
              <a:rPr lang="en-US" dirty="0"/>
              <a:t> are more adaptive and can generalize across different word forms which makes them ideal for complex tasks involving diverse vocabularies.</a:t>
            </a:r>
          </a:p>
          <a:p>
            <a:endParaRPr lang="en-US" dirty="0"/>
          </a:p>
        </p:txBody>
      </p:sp>
    </p:spTree>
    <p:extLst>
      <p:ext uri="{BB962C8B-B14F-4D97-AF65-F5344CB8AC3E}">
        <p14:creationId xmlns:p14="http://schemas.microsoft.com/office/powerpoint/2010/main" val="1380998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C7907-CBCB-2ECD-E248-490F9B60C48A}"/>
              </a:ext>
            </a:extLst>
          </p:cNvPr>
          <p:cNvSpPr>
            <a:spLocks noGrp="1"/>
          </p:cNvSpPr>
          <p:nvPr>
            <p:ph type="title"/>
          </p:nvPr>
        </p:nvSpPr>
        <p:spPr/>
        <p:txBody>
          <a:bodyPr>
            <a:normAutofit fontScale="90000"/>
          </a:bodyPr>
          <a:lstStyle/>
          <a:p>
            <a:r>
              <a:rPr lang="en-US" b="1" dirty="0">
                <a:effectLst/>
              </a:rPr>
              <a:t>Implementation of Lemmatization in Python</a:t>
            </a:r>
            <a:endParaRPr lang="en-US" dirty="0"/>
          </a:p>
        </p:txBody>
      </p:sp>
      <p:sp>
        <p:nvSpPr>
          <p:cNvPr id="3" name="Content Placeholder 2">
            <a:extLst>
              <a:ext uri="{FF2B5EF4-FFF2-40B4-BE49-F238E27FC236}">
                <a16:creationId xmlns:a16="http://schemas.microsoft.com/office/drawing/2014/main" id="{7DBF52A4-6F26-5783-54E5-0CB0932890BE}"/>
              </a:ext>
            </a:extLst>
          </p:cNvPr>
          <p:cNvSpPr>
            <a:spLocks noGrp="1"/>
          </p:cNvSpPr>
          <p:nvPr>
            <p:ph idx="1"/>
          </p:nvPr>
        </p:nvSpPr>
        <p:spPr/>
        <p:txBody>
          <a:bodyPr>
            <a:normAutofit fontScale="92500" lnSpcReduction="10000"/>
          </a:bodyPr>
          <a:lstStyle/>
          <a:p>
            <a:r>
              <a:rPr lang="en-US" b="1" dirty="0"/>
              <a:t>Step 1: Installing NLTK and Downloading Necessary Resource</a:t>
            </a:r>
          </a:p>
          <a:p>
            <a:r>
              <a:rPr lang="en-US" b="1" dirty="0"/>
              <a:t>Step 2: Lemmatizing Text with NLTK</a:t>
            </a:r>
          </a:p>
          <a:p>
            <a:r>
              <a:rPr lang="en-US" b="1" dirty="0"/>
              <a:t>Step 3: Improving Lemmatization with Part of Speech (POS) Tagging</a:t>
            </a:r>
          </a:p>
          <a:p>
            <a:r>
              <a:rPr lang="en-US" dirty="0"/>
              <a:t>https://colab.research.google.com/drive/1FvV9nw6K2xlmmvn6TYd180bREcidTZVG?authuser=7#scrollTo=9gpKHvyAM-O1</a:t>
            </a:r>
          </a:p>
        </p:txBody>
      </p:sp>
    </p:spTree>
    <p:extLst>
      <p:ext uri="{BB962C8B-B14F-4D97-AF65-F5344CB8AC3E}">
        <p14:creationId xmlns:p14="http://schemas.microsoft.com/office/powerpoint/2010/main" val="15801726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95330-25D0-5D9C-D43A-B380CA9D591D}"/>
              </a:ext>
            </a:extLst>
          </p:cNvPr>
          <p:cNvSpPr>
            <a:spLocks noGrp="1"/>
          </p:cNvSpPr>
          <p:nvPr>
            <p:ph type="title"/>
          </p:nvPr>
        </p:nvSpPr>
        <p:spPr/>
        <p:txBody>
          <a:bodyPr/>
          <a:lstStyle/>
          <a:p>
            <a:r>
              <a:rPr lang="en-US" b="1" dirty="0">
                <a:effectLst/>
              </a:rPr>
              <a:t>Importance of Morphological Analysis</a:t>
            </a:r>
            <a:endParaRPr lang="en-US" dirty="0"/>
          </a:p>
        </p:txBody>
      </p:sp>
      <p:sp>
        <p:nvSpPr>
          <p:cNvPr id="3" name="Content Placeholder 2">
            <a:extLst>
              <a:ext uri="{FF2B5EF4-FFF2-40B4-BE49-F238E27FC236}">
                <a16:creationId xmlns:a16="http://schemas.microsoft.com/office/drawing/2014/main" id="{0B0A38D7-25D7-2CA1-4090-D4F35AB8AFA8}"/>
              </a:ext>
            </a:extLst>
          </p:cNvPr>
          <p:cNvSpPr>
            <a:spLocks noGrp="1"/>
          </p:cNvSpPr>
          <p:nvPr>
            <p:ph idx="1"/>
          </p:nvPr>
        </p:nvSpPr>
        <p:spPr/>
        <p:txBody>
          <a:bodyPr>
            <a:normAutofit fontScale="92500" lnSpcReduction="10000"/>
          </a:bodyPr>
          <a:lstStyle/>
          <a:p>
            <a:pPr marL="514350" indent="-514350" fontAlgn="base">
              <a:buFont typeface="+mj-lt"/>
              <a:buAutoNum type="arabicPeriod"/>
            </a:pPr>
            <a:r>
              <a:rPr lang="en-US" b="1" dirty="0"/>
              <a:t>Understanding Word Structure</a:t>
            </a:r>
            <a:r>
              <a:rPr lang="en-US" dirty="0"/>
              <a:t>: It helps in breaking the composition of complex words.</a:t>
            </a:r>
          </a:p>
          <a:p>
            <a:pPr marL="514350" indent="-514350" fontAlgn="base">
              <a:buFont typeface="+mj-lt"/>
              <a:buAutoNum type="arabicPeriod"/>
            </a:pPr>
            <a:r>
              <a:rPr lang="en-US" b="1" dirty="0"/>
              <a:t>Improving Accuracy</a:t>
            </a:r>
            <a:r>
              <a:rPr lang="en-US" dirty="0"/>
              <a:t>: It enhances accuracy of tasks such as part-of-speech tagging, syntactic parsing and machine translation.</a:t>
            </a:r>
          </a:p>
          <a:p>
            <a:pPr marL="0" indent="0" fontAlgn="base">
              <a:buNone/>
            </a:pPr>
            <a:r>
              <a:rPr lang="en-US" dirty="0"/>
              <a:t>By identifying and analyzing morphemes system can identify text correctly at the most basic level which helps in more advanced NLP applications</a:t>
            </a:r>
          </a:p>
          <a:p>
            <a:endParaRPr lang="en-US" dirty="0"/>
          </a:p>
        </p:txBody>
      </p:sp>
    </p:spTree>
    <p:extLst>
      <p:ext uri="{BB962C8B-B14F-4D97-AF65-F5344CB8AC3E}">
        <p14:creationId xmlns:p14="http://schemas.microsoft.com/office/powerpoint/2010/main" val="12428460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E8639-DDE9-0B0D-D4CC-0DC630A55A58}"/>
              </a:ext>
            </a:extLst>
          </p:cNvPr>
          <p:cNvSpPr>
            <a:spLocks noGrp="1"/>
          </p:cNvSpPr>
          <p:nvPr>
            <p:ph type="title"/>
          </p:nvPr>
        </p:nvSpPr>
        <p:spPr/>
        <p:txBody>
          <a:bodyPr>
            <a:normAutofit/>
          </a:bodyPr>
          <a:lstStyle/>
          <a:p>
            <a:r>
              <a:rPr lang="en-US" b="1" dirty="0">
                <a:effectLst/>
              </a:rPr>
              <a:t>2. Syntactic Analysis (Parsing)</a:t>
            </a:r>
            <a:endParaRPr lang="en-US" dirty="0"/>
          </a:p>
        </p:txBody>
      </p:sp>
      <p:sp>
        <p:nvSpPr>
          <p:cNvPr id="3" name="Content Placeholder 2">
            <a:extLst>
              <a:ext uri="{FF2B5EF4-FFF2-40B4-BE49-F238E27FC236}">
                <a16:creationId xmlns:a16="http://schemas.microsoft.com/office/drawing/2014/main" id="{EA662ACB-D2CD-1004-002F-057D0F9EDE54}"/>
              </a:ext>
            </a:extLst>
          </p:cNvPr>
          <p:cNvSpPr>
            <a:spLocks noGrp="1"/>
          </p:cNvSpPr>
          <p:nvPr>
            <p:ph idx="1"/>
          </p:nvPr>
        </p:nvSpPr>
        <p:spPr/>
        <p:txBody>
          <a:bodyPr>
            <a:normAutofit fontScale="92500" lnSpcReduction="20000"/>
          </a:bodyPr>
          <a:lstStyle/>
          <a:p>
            <a:pPr marL="0" indent="0">
              <a:buNone/>
            </a:pPr>
            <a:r>
              <a:rPr lang="en-US" b="1" dirty="0"/>
              <a:t>Syntactic Analysis</a:t>
            </a:r>
            <a:r>
              <a:rPr lang="en-US" dirty="0"/>
              <a:t> helps in understanding how words in a sentence are arranged according to grammar rules. It ensures that the sentence follows correct grammar which makes the meaning clearer. The goal is to create a parse tree which is a diagram showing the structure of sentence. It breaks the sentence into parts like the subject, verb and object and shows how these parts are connected. This helps machines understand the relationships between words in the sentence.</a:t>
            </a:r>
          </a:p>
        </p:txBody>
      </p:sp>
    </p:spTree>
    <p:extLst>
      <p:ext uri="{BB962C8B-B14F-4D97-AF65-F5344CB8AC3E}">
        <p14:creationId xmlns:p14="http://schemas.microsoft.com/office/powerpoint/2010/main" val="22417113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3DA5C-09FC-4DC0-7A7E-78D9BD2844D5}"/>
              </a:ext>
            </a:extLst>
          </p:cNvPr>
          <p:cNvSpPr>
            <a:spLocks noGrp="1"/>
          </p:cNvSpPr>
          <p:nvPr>
            <p:ph type="title"/>
          </p:nvPr>
        </p:nvSpPr>
        <p:spPr/>
        <p:txBody>
          <a:bodyPr>
            <a:normAutofit fontScale="90000"/>
          </a:bodyPr>
          <a:lstStyle/>
          <a:p>
            <a:r>
              <a:rPr lang="en-US" b="1" dirty="0">
                <a:effectLst/>
              </a:rPr>
              <a:t>Key components of syntactic analysis include:</a:t>
            </a:r>
            <a:endParaRPr lang="en-US" dirty="0"/>
          </a:p>
        </p:txBody>
      </p:sp>
      <p:sp>
        <p:nvSpPr>
          <p:cNvPr id="3" name="Content Placeholder 2">
            <a:extLst>
              <a:ext uri="{FF2B5EF4-FFF2-40B4-BE49-F238E27FC236}">
                <a16:creationId xmlns:a16="http://schemas.microsoft.com/office/drawing/2014/main" id="{55CE08DD-0FFD-ABB5-5B69-C81BF8C70087}"/>
              </a:ext>
            </a:extLst>
          </p:cNvPr>
          <p:cNvSpPr>
            <a:spLocks noGrp="1"/>
          </p:cNvSpPr>
          <p:nvPr>
            <p:ph idx="1"/>
          </p:nvPr>
        </p:nvSpPr>
        <p:spPr/>
        <p:txBody>
          <a:bodyPr/>
          <a:lstStyle/>
          <a:p>
            <a:pPr fontAlgn="base"/>
            <a:r>
              <a:rPr lang="en-US" b="1" dirty="0"/>
              <a:t>POS Tagging</a:t>
            </a:r>
            <a:r>
              <a:rPr lang="en-US" dirty="0"/>
              <a:t>: Assigning parts of speech (noun, verb, adjective) to words in a sentence as discussed earlier.</a:t>
            </a:r>
          </a:p>
          <a:p>
            <a:pPr fontAlgn="base"/>
            <a:r>
              <a:rPr lang="en-US" b="1" dirty="0"/>
              <a:t>Ambiguity Resolution</a:t>
            </a:r>
            <a:r>
              <a:rPr lang="en-US" dirty="0"/>
              <a:t>: Handling words that have multiple meanings (</a:t>
            </a:r>
            <a:r>
              <a:rPr lang="en-US" dirty="0" err="1"/>
              <a:t>e.g</a:t>
            </a:r>
            <a:r>
              <a:rPr lang="en-US" dirty="0"/>
              <a:t> "book" can be a noun or a verb).</a:t>
            </a:r>
          </a:p>
          <a:p>
            <a:endParaRPr lang="en-US" dirty="0"/>
          </a:p>
        </p:txBody>
      </p:sp>
    </p:spTree>
    <p:extLst>
      <p:ext uri="{BB962C8B-B14F-4D97-AF65-F5344CB8AC3E}">
        <p14:creationId xmlns:p14="http://schemas.microsoft.com/office/powerpoint/2010/main" val="5865941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ED5EE-9846-D1D9-75EA-54CADEA6B873}"/>
              </a:ext>
            </a:extLst>
          </p:cNvPr>
          <p:cNvSpPr>
            <a:spLocks noGrp="1"/>
          </p:cNvSpPr>
          <p:nvPr>
            <p:ph type="title"/>
          </p:nvPr>
        </p:nvSpPr>
        <p:spPr/>
        <p:txBody>
          <a:bodyPr/>
          <a:lstStyle/>
          <a:p>
            <a:r>
              <a:rPr lang="en-US" dirty="0"/>
              <a:t>Example	</a:t>
            </a:r>
          </a:p>
        </p:txBody>
      </p:sp>
      <p:sp>
        <p:nvSpPr>
          <p:cNvPr id="3" name="Content Placeholder 2">
            <a:extLst>
              <a:ext uri="{FF2B5EF4-FFF2-40B4-BE49-F238E27FC236}">
                <a16:creationId xmlns:a16="http://schemas.microsoft.com/office/drawing/2014/main" id="{DD9388A3-D290-6A58-A4E0-6A0967FB781E}"/>
              </a:ext>
            </a:extLst>
          </p:cNvPr>
          <p:cNvSpPr>
            <a:spLocks noGrp="1"/>
          </p:cNvSpPr>
          <p:nvPr>
            <p:ph idx="1"/>
          </p:nvPr>
        </p:nvSpPr>
        <p:spPr/>
        <p:txBody>
          <a:bodyPr>
            <a:normAutofit fontScale="77500" lnSpcReduction="20000"/>
          </a:bodyPr>
          <a:lstStyle/>
          <a:p>
            <a:pPr marL="0" indent="0" fontAlgn="base">
              <a:buNone/>
            </a:pPr>
            <a:r>
              <a:rPr lang="en-US" dirty="0"/>
              <a:t>Consider the following sentences:</a:t>
            </a:r>
          </a:p>
          <a:p>
            <a:pPr fontAlgn="base"/>
            <a:r>
              <a:rPr lang="en-US" dirty="0"/>
              <a:t>Correct Syntax: "John eats an apple."</a:t>
            </a:r>
          </a:p>
          <a:p>
            <a:pPr fontAlgn="base"/>
            <a:r>
              <a:rPr lang="en-US" dirty="0"/>
              <a:t>Incorrect Syntax: "Apple eats John an."</a:t>
            </a:r>
          </a:p>
          <a:p>
            <a:pPr marL="0" indent="0" fontAlgn="base">
              <a:buNone/>
            </a:pPr>
            <a:r>
              <a:rPr lang="en-US" dirty="0"/>
              <a:t>Despite using same words only the first sentence is grammatically correct and makes sense. The correct arrangement of words according to grammatical rules is what makes the sentence meaningful. By analyzing sentence structure NLP systems can better understand and generate human language. This helps in tasks like machine translation, sentiment analysis and information retrieval by making the text clearer and reducing confusion.</a:t>
            </a:r>
          </a:p>
          <a:p>
            <a:endParaRPr lang="en-US" dirty="0"/>
          </a:p>
        </p:txBody>
      </p:sp>
    </p:spTree>
    <p:extLst>
      <p:ext uri="{BB962C8B-B14F-4D97-AF65-F5344CB8AC3E}">
        <p14:creationId xmlns:p14="http://schemas.microsoft.com/office/powerpoint/2010/main" val="9513512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2CF15-47A4-05A2-FB10-22CBE67EE684}"/>
              </a:ext>
            </a:extLst>
          </p:cNvPr>
          <p:cNvSpPr>
            <a:spLocks noGrp="1"/>
          </p:cNvSpPr>
          <p:nvPr>
            <p:ph type="title"/>
          </p:nvPr>
        </p:nvSpPr>
        <p:spPr/>
        <p:txBody>
          <a:bodyPr>
            <a:normAutofit fontScale="90000"/>
          </a:bodyPr>
          <a:lstStyle/>
          <a:p>
            <a:r>
              <a:rPr lang="en-US" dirty="0">
                <a:solidFill>
                  <a:schemeClr val="bg1"/>
                </a:solidFill>
              </a:rPr>
              <a:t>https://www.geeksforgeeks.org/nlp/understanding-semantic-analysis-nlp/</a:t>
            </a:r>
          </a:p>
        </p:txBody>
      </p:sp>
      <p:sp>
        <p:nvSpPr>
          <p:cNvPr id="3" name="Text Placeholder 2">
            <a:extLst>
              <a:ext uri="{FF2B5EF4-FFF2-40B4-BE49-F238E27FC236}">
                <a16:creationId xmlns:a16="http://schemas.microsoft.com/office/drawing/2014/main" id="{F2499928-8ADD-76AA-630D-218CBE7DF17A}"/>
              </a:ext>
            </a:extLst>
          </p:cNvPr>
          <p:cNvSpPr>
            <a:spLocks noGrp="1"/>
          </p:cNvSpPr>
          <p:nvPr>
            <p:ph type="body" idx="1"/>
          </p:nvPr>
        </p:nvSpPr>
        <p:spPr/>
        <p:txBody>
          <a:bodyPr/>
          <a:lstStyle/>
          <a:p>
            <a:r>
              <a:rPr lang="en-US" b="1" dirty="0"/>
              <a:t>Understanding Semantic Analysis</a:t>
            </a:r>
          </a:p>
          <a:p>
            <a:endParaRPr lang="en-US" dirty="0"/>
          </a:p>
        </p:txBody>
      </p:sp>
    </p:spTree>
    <p:extLst>
      <p:ext uri="{BB962C8B-B14F-4D97-AF65-F5344CB8AC3E}">
        <p14:creationId xmlns:p14="http://schemas.microsoft.com/office/powerpoint/2010/main" val="26624024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53586-4CF7-0BEB-E14C-0B6A30C47D4C}"/>
              </a:ext>
            </a:extLst>
          </p:cNvPr>
          <p:cNvSpPr>
            <a:spLocks noGrp="1"/>
          </p:cNvSpPr>
          <p:nvPr>
            <p:ph type="title"/>
          </p:nvPr>
        </p:nvSpPr>
        <p:spPr/>
        <p:txBody>
          <a:bodyPr>
            <a:normAutofit fontScale="90000"/>
          </a:bodyPr>
          <a:lstStyle/>
          <a:p>
            <a:r>
              <a:rPr lang="en-US" b="1" dirty="0">
                <a:effectLst/>
              </a:rPr>
              <a:t>3. Semantic Analysis</a:t>
            </a:r>
            <a:br>
              <a:rPr lang="en-US" b="1" dirty="0">
                <a:effectLst/>
              </a:rPr>
            </a:br>
            <a:endParaRPr lang="en-US" dirty="0"/>
          </a:p>
        </p:txBody>
      </p:sp>
      <p:sp>
        <p:nvSpPr>
          <p:cNvPr id="3" name="Content Placeholder 2">
            <a:extLst>
              <a:ext uri="{FF2B5EF4-FFF2-40B4-BE49-F238E27FC236}">
                <a16:creationId xmlns:a16="http://schemas.microsoft.com/office/drawing/2014/main" id="{919CC787-AFDF-AE80-C0ED-6DCA6636FB3C}"/>
              </a:ext>
            </a:extLst>
          </p:cNvPr>
          <p:cNvSpPr>
            <a:spLocks noGrp="1"/>
          </p:cNvSpPr>
          <p:nvPr>
            <p:ph idx="1"/>
          </p:nvPr>
        </p:nvSpPr>
        <p:spPr/>
        <p:txBody>
          <a:bodyPr>
            <a:normAutofit lnSpcReduction="10000"/>
          </a:bodyPr>
          <a:lstStyle/>
          <a:p>
            <a:pPr marL="0" indent="0" algn="just">
              <a:buNone/>
            </a:pPr>
            <a:r>
              <a:rPr lang="en-US" u="sng" dirty="0">
                <a:hlinkClick r:id="rId2"/>
              </a:rPr>
              <a:t>Semantic Analysis</a:t>
            </a:r>
            <a:r>
              <a:rPr lang="en-US" dirty="0"/>
              <a:t> focuses on understanding meaning behind words and sentences. It ensures that the text is not only grammatically correct but also logically coherent and contextually relevant. It aims to understand dictionary definitions of words and their usage in context and also find whether the arrangement of words in a sentence makes logical sense.</a:t>
            </a:r>
          </a:p>
        </p:txBody>
      </p:sp>
    </p:spTree>
    <p:extLst>
      <p:ext uri="{BB962C8B-B14F-4D97-AF65-F5344CB8AC3E}">
        <p14:creationId xmlns:p14="http://schemas.microsoft.com/office/powerpoint/2010/main" val="11811853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F74B6-3718-C139-50B0-083F6EA3BDDC}"/>
              </a:ext>
            </a:extLst>
          </p:cNvPr>
          <p:cNvSpPr>
            <a:spLocks noGrp="1"/>
          </p:cNvSpPr>
          <p:nvPr>
            <p:ph type="title"/>
          </p:nvPr>
        </p:nvSpPr>
        <p:spPr/>
        <p:txBody>
          <a:bodyPr>
            <a:normAutofit/>
          </a:bodyPr>
          <a:lstStyle/>
          <a:p>
            <a:r>
              <a:rPr lang="en-US" b="1" dirty="0">
                <a:effectLst/>
              </a:rPr>
              <a:t>4. Discourse Integration</a:t>
            </a:r>
            <a:endParaRPr lang="en-US" dirty="0"/>
          </a:p>
        </p:txBody>
      </p:sp>
      <p:sp>
        <p:nvSpPr>
          <p:cNvPr id="3" name="Content Placeholder 2">
            <a:extLst>
              <a:ext uri="{FF2B5EF4-FFF2-40B4-BE49-F238E27FC236}">
                <a16:creationId xmlns:a16="http://schemas.microsoft.com/office/drawing/2014/main" id="{FF892725-D659-AE7F-1F2D-E4462D6F04E7}"/>
              </a:ext>
            </a:extLst>
          </p:cNvPr>
          <p:cNvSpPr>
            <a:spLocks noGrp="1"/>
          </p:cNvSpPr>
          <p:nvPr>
            <p:ph idx="1"/>
          </p:nvPr>
        </p:nvSpPr>
        <p:spPr/>
        <p:txBody>
          <a:bodyPr>
            <a:normAutofit/>
          </a:bodyPr>
          <a:lstStyle/>
          <a:p>
            <a:pPr marL="0" indent="0">
              <a:buNone/>
            </a:pPr>
            <a:r>
              <a:rPr lang="en-US" dirty="0"/>
              <a:t>It is the process of understanding how individual sentences or segments of text connect and relate to each other within a broader context. This phase ensures that the meaning of a text is consistent and coherent across multiple sentences or paragraphs. It is important for understanding long or complex texts where meaning focuses on previous statements.</a:t>
            </a:r>
          </a:p>
        </p:txBody>
      </p:sp>
    </p:spTree>
    <p:extLst>
      <p:ext uri="{BB962C8B-B14F-4D97-AF65-F5344CB8AC3E}">
        <p14:creationId xmlns:p14="http://schemas.microsoft.com/office/powerpoint/2010/main" val="29481029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BC7FA-9BE7-A4A4-767A-B8A51CC15726}"/>
              </a:ext>
            </a:extLst>
          </p:cNvPr>
          <p:cNvSpPr>
            <a:spLocks noGrp="1"/>
          </p:cNvSpPr>
          <p:nvPr>
            <p:ph type="title"/>
          </p:nvPr>
        </p:nvSpPr>
        <p:spPr/>
        <p:txBody>
          <a:bodyPr>
            <a:normAutofit/>
          </a:bodyPr>
          <a:lstStyle/>
          <a:p>
            <a:r>
              <a:rPr lang="en-US" b="1" dirty="0">
                <a:effectLst/>
              </a:rPr>
              <a:t>Key aspects of discourse integration:</a:t>
            </a:r>
            <a:endParaRPr lang="en-US" dirty="0"/>
          </a:p>
        </p:txBody>
      </p:sp>
      <p:sp>
        <p:nvSpPr>
          <p:cNvPr id="3" name="Content Placeholder 2">
            <a:extLst>
              <a:ext uri="{FF2B5EF4-FFF2-40B4-BE49-F238E27FC236}">
                <a16:creationId xmlns:a16="http://schemas.microsoft.com/office/drawing/2014/main" id="{17533F4D-3B8F-A940-58FD-EDA61DEFD859}"/>
              </a:ext>
            </a:extLst>
          </p:cNvPr>
          <p:cNvSpPr>
            <a:spLocks noGrp="1"/>
          </p:cNvSpPr>
          <p:nvPr>
            <p:ph idx="1"/>
          </p:nvPr>
        </p:nvSpPr>
        <p:spPr/>
        <p:txBody>
          <a:bodyPr>
            <a:normAutofit fontScale="77500" lnSpcReduction="20000"/>
          </a:bodyPr>
          <a:lstStyle/>
          <a:p>
            <a:pPr fontAlgn="base"/>
            <a:r>
              <a:rPr lang="en-US" b="1" dirty="0"/>
              <a:t>Anaphora Resolution</a:t>
            </a:r>
            <a:r>
              <a:rPr lang="en-US" dirty="0"/>
              <a:t>: Anaphora refers to the use of pronouns or other references that depend on earlier parts of the text. For example in the sentence "Taylor went to the store. She bought groceries" pronoun "She" refers back to "Taylor." It ensures that references like these are correctly understood by linking them to their antecedents.</a:t>
            </a:r>
          </a:p>
          <a:p>
            <a:pPr fontAlgn="base"/>
            <a:r>
              <a:rPr lang="en-US" b="1" dirty="0"/>
              <a:t>Contextual References</a:t>
            </a:r>
            <a:r>
              <a:rPr lang="en-US" dirty="0"/>
              <a:t>: Many words or phrases can only be fully understood when considered in the context of following sentences. It helps in interpreting how certain words or phrases focuses on context. For example "It was a great day" is clearer when you know what event or situation is being discussed.</a:t>
            </a:r>
          </a:p>
          <a:p>
            <a:endParaRPr lang="en-US" dirty="0"/>
          </a:p>
        </p:txBody>
      </p:sp>
    </p:spTree>
    <p:extLst>
      <p:ext uri="{BB962C8B-B14F-4D97-AF65-F5344CB8AC3E}">
        <p14:creationId xmlns:p14="http://schemas.microsoft.com/office/powerpoint/2010/main" val="31664204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66533-D26D-0696-AD5B-9F5B2EF3ED75}"/>
              </a:ext>
            </a:extLst>
          </p:cNvPr>
          <p:cNvSpPr>
            <a:spLocks noGrp="1"/>
          </p:cNvSpPr>
          <p:nvPr>
            <p:ph type="title"/>
          </p:nvPr>
        </p:nvSpPr>
        <p:spPr/>
        <p:txBody>
          <a:bodyPr>
            <a:normAutofit/>
          </a:bodyPr>
          <a:lstStyle/>
          <a:p>
            <a:r>
              <a:rPr lang="en-US" b="1" dirty="0">
                <a:effectLst/>
              </a:rPr>
              <a:t>Example of Discourse Integration</a:t>
            </a:r>
            <a:endParaRPr lang="en-US" dirty="0"/>
          </a:p>
        </p:txBody>
      </p:sp>
      <p:sp>
        <p:nvSpPr>
          <p:cNvPr id="3" name="Content Placeholder 2">
            <a:extLst>
              <a:ext uri="{FF2B5EF4-FFF2-40B4-BE49-F238E27FC236}">
                <a16:creationId xmlns:a16="http://schemas.microsoft.com/office/drawing/2014/main" id="{62E13A11-ADB5-1B92-01C6-DDD78CAA86AF}"/>
              </a:ext>
            </a:extLst>
          </p:cNvPr>
          <p:cNvSpPr>
            <a:spLocks noGrp="1"/>
          </p:cNvSpPr>
          <p:nvPr>
            <p:ph idx="1"/>
          </p:nvPr>
        </p:nvSpPr>
        <p:spPr>
          <a:xfrm>
            <a:off x="448965" y="1502815"/>
            <a:ext cx="8093365" cy="3359510"/>
          </a:xfrm>
        </p:spPr>
        <p:txBody>
          <a:bodyPr>
            <a:normAutofit fontScale="77500" lnSpcReduction="20000"/>
          </a:bodyPr>
          <a:lstStyle/>
          <a:p>
            <a:pPr marL="514350" indent="-514350" fontAlgn="base">
              <a:buFont typeface="+mj-lt"/>
              <a:buAutoNum type="arabicPeriod"/>
            </a:pPr>
            <a:r>
              <a:rPr lang="en-US" dirty="0"/>
              <a:t>"Taylor went to the store to buy some groceries. She realized she forgot her wallet." Understanding that "Taylor" is the antecedent of "she" is important for understanding sentence's meaning.</a:t>
            </a:r>
          </a:p>
          <a:p>
            <a:pPr marL="514350" indent="-514350" fontAlgn="base">
              <a:buFont typeface="+mj-lt"/>
              <a:buAutoNum type="arabicPeriod"/>
            </a:pPr>
            <a:r>
              <a:rPr lang="en-US" dirty="0"/>
              <a:t>"This is unfair!" helps in understand what "this" refers to we need to identify following sentences. Without context statement's meaning remains unclear.</a:t>
            </a:r>
          </a:p>
          <a:p>
            <a:pPr marL="0" indent="0" fontAlgn="base">
              <a:buNone/>
            </a:pPr>
            <a:r>
              <a:rPr lang="en-US" dirty="0"/>
              <a:t>It is important for NLP applications like machine translation, chatbots and text summarization. It ensures that meaning remains same across sentences which helps machines to understand context. This enables accurate and natural responses in applications like conversational AI and document translation.</a:t>
            </a:r>
          </a:p>
          <a:p>
            <a:endParaRPr lang="en-US" dirty="0"/>
          </a:p>
        </p:txBody>
      </p:sp>
    </p:spTree>
    <p:extLst>
      <p:ext uri="{BB962C8B-B14F-4D97-AF65-F5344CB8AC3E}">
        <p14:creationId xmlns:p14="http://schemas.microsoft.com/office/powerpoint/2010/main" val="21744510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DB34A-1FDE-09E9-BCF3-EB2A5E85B067}"/>
              </a:ext>
            </a:extLst>
          </p:cNvPr>
          <p:cNvSpPr>
            <a:spLocks noGrp="1"/>
          </p:cNvSpPr>
          <p:nvPr>
            <p:ph type="title"/>
          </p:nvPr>
        </p:nvSpPr>
        <p:spPr/>
        <p:txBody>
          <a:bodyPr>
            <a:normAutofit/>
          </a:bodyPr>
          <a:lstStyle/>
          <a:p>
            <a:r>
              <a:rPr lang="en-US" b="1" dirty="0">
                <a:effectLst/>
              </a:rPr>
              <a:t>5. Pragmatic Analysis</a:t>
            </a:r>
            <a:endParaRPr lang="en-US" dirty="0"/>
          </a:p>
        </p:txBody>
      </p:sp>
      <p:sp>
        <p:nvSpPr>
          <p:cNvPr id="3" name="Content Placeholder 2">
            <a:extLst>
              <a:ext uri="{FF2B5EF4-FFF2-40B4-BE49-F238E27FC236}">
                <a16:creationId xmlns:a16="http://schemas.microsoft.com/office/drawing/2014/main" id="{3421BBF5-C49D-F876-97CC-1888D8391242}"/>
              </a:ext>
            </a:extLst>
          </p:cNvPr>
          <p:cNvSpPr>
            <a:spLocks noGrp="1"/>
          </p:cNvSpPr>
          <p:nvPr>
            <p:ph idx="1"/>
          </p:nvPr>
        </p:nvSpPr>
        <p:spPr/>
        <p:txBody>
          <a:bodyPr/>
          <a:lstStyle/>
          <a:p>
            <a:pPr marL="0" indent="0">
              <a:buNone/>
            </a:pPr>
            <a:r>
              <a:rPr lang="en-US" dirty="0"/>
              <a:t>Pragmatic analysis helps in understanding the deeper meaning behind words and sentences by looking beyond their literal meanings. While semantic analysis looks at the direct meaning it considers the speaker's or writer's intentions, tone and context of the communication.</a:t>
            </a:r>
          </a:p>
        </p:txBody>
      </p:sp>
    </p:spTree>
    <p:extLst>
      <p:ext uri="{BB962C8B-B14F-4D97-AF65-F5344CB8AC3E}">
        <p14:creationId xmlns:p14="http://schemas.microsoft.com/office/powerpoint/2010/main" val="19070303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C614-56E8-E2E5-D4EA-6CFDE75FBFCA}"/>
              </a:ext>
            </a:extLst>
          </p:cNvPr>
          <p:cNvSpPr>
            <a:spLocks noGrp="1"/>
          </p:cNvSpPr>
          <p:nvPr>
            <p:ph type="title"/>
          </p:nvPr>
        </p:nvSpPr>
        <p:spPr/>
        <p:txBody>
          <a:bodyPr>
            <a:normAutofit/>
          </a:bodyPr>
          <a:lstStyle/>
          <a:p>
            <a:r>
              <a:rPr lang="en-US" b="1" dirty="0">
                <a:effectLst/>
              </a:rPr>
              <a:t>Key tasks in pragmatic analysis:</a:t>
            </a:r>
            <a:endParaRPr lang="en-US" dirty="0"/>
          </a:p>
        </p:txBody>
      </p:sp>
      <p:sp>
        <p:nvSpPr>
          <p:cNvPr id="3" name="Content Placeholder 2">
            <a:extLst>
              <a:ext uri="{FF2B5EF4-FFF2-40B4-BE49-F238E27FC236}">
                <a16:creationId xmlns:a16="http://schemas.microsoft.com/office/drawing/2014/main" id="{7D7290C3-D429-775E-FB32-247FD97954F5}"/>
              </a:ext>
            </a:extLst>
          </p:cNvPr>
          <p:cNvSpPr>
            <a:spLocks noGrp="1"/>
          </p:cNvSpPr>
          <p:nvPr>
            <p:ph idx="1"/>
          </p:nvPr>
        </p:nvSpPr>
        <p:spPr/>
        <p:txBody>
          <a:bodyPr>
            <a:normAutofit fontScale="92500"/>
          </a:bodyPr>
          <a:lstStyle/>
          <a:p>
            <a:pPr fontAlgn="base"/>
            <a:r>
              <a:rPr lang="en-US" b="1" dirty="0"/>
              <a:t>Understanding Intentions</a:t>
            </a:r>
            <a:r>
              <a:rPr lang="en-US" dirty="0"/>
              <a:t>: Sometimes language doesn’t mean what it says literally. For example when someone asks "Can you pass the salt?" it's not about ability but a polite request. It helps to understand true intention behind such expressions.</a:t>
            </a:r>
          </a:p>
          <a:p>
            <a:pPr fontAlgn="base"/>
            <a:r>
              <a:rPr lang="en-US" b="1" dirty="0"/>
              <a:t>Figurative Meaning</a:t>
            </a:r>
            <a:r>
              <a:rPr lang="en-US" dirty="0"/>
              <a:t>: Language often uses idioms or metaphors that can’t be taken literally.</a:t>
            </a:r>
          </a:p>
          <a:p>
            <a:endParaRPr lang="en-US" dirty="0"/>
          </a:p>
        </p:txBody>
      </p:sp>
    </p:spTree>
    <p:extLst>
      <p:ext uri="{BB962C8B-B14F-4D97-AF65-F5344CB8AC3E}">
        <p14:creationId xmlns:p14="http://schemas.microsoft.com/office/powerpoint/2010/main" val="5114460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CADA9-BA5F-B360-9A86-2F40EA7ABDA2}"/>
              </a:ext>
            </a:extLst>
          </p:cNvPr>
          <p:cNvSpPr>
            <a:spLocks noGrp="1"/>
          </p:cNvSpPr>
          <p:nvPr>
            <p:ph type="title"/>
          </p:nvPr>
        </p:nvSpPr>
        <p:spPr/>
        <p:txBody>
          <a:bodyPr>
            <a:normAutofit/>
          </a:bodyPr>
          <a:lstStyle/>
          <a:p>
            <a:r>
              <a:rPr lang="en-US" b="1" dirty="0">
                <a:effectLst/>
              </a:rPr>
              <a:t>Examples of Pragmatic Analysis</a:t>
            </a:r>
            <a:endParaRPr lang="en-US" dirty="0"/>
          </a:p>
        </p:txBody>
      </p:sp>
      <p:sp>
        <p:nvSpPr>
          <p:cNvPr id="3" name="Content Placeholder 2">
            <a:extLst>
              <a:ext uri="{FF2B5EF4-FFF2-40B4-BE49-F238E27FC236}">
                <a16:creationId xmlns:a16="http://schemas.microsoft.com/office/drawing/2014/main" id="{350BCFCA-166A-90A5-934B-10282AE78FCE}"/>
              </a:ext>
            </a:extLst>
          </p:cNvPr>
          <p:cNvSpPr>
            <a:spLocks noGrp="1"/>
          </p:cNvSpPr>
          <p:nvPr>
            <p:ph idx="1"/>
          </p:nvPr>
        </p:nvSpPr>
        <p:spPr/>
        <p:txBody>
          <a:bodyPr>
            <a:normAutofit fontScale="70000" lnSpcReduction="20000"/>
          </a:bodyPr>
          <a:lstStyle/>
          <a:p>
            <a:pPr fontAlgn="base"/>
            <a:r>
              <a:rPr lang="en-US" dirty="0"/>
              <a:t>"Hello! What time is it?" here it might be a straightforward request for the current time but it could also imply concern about being late.</a:t>
            </a:r>
          </a:p>
          <a:p>
            <a:pPr fontAlgn="base"/>
            <a:r>
              <a:rPr lang="en-US" dirty="0"/>
              <a:t>For example "I’m falling for you" means "I love you" not literally falling. It helps to interpret these non-literal meanings.</a:t>
            </a:r>
          </a:p>
          <a:p>
            <a:pPr marL="0" indent="0" fontAlgn="base">
              <a:buNone/>
            </a:pPr>
            <a:r>
              <a:rPr lang="en-US" dirty="0"/>
              <a:t>It is important for NLP tasks like sentiment analysis, chatbots and conversation-based AI. It helps machines to understand the speaker's intentions, tone and context which go beyond the literal meaning of words. By identifying sarcasm and emotions this help systems to respond naturally which improves human-computer interaction. By combining these phases NLP systems can effectively interpret, analyze and generate human language making more intelligent and natural interactions between humans and machines.</a:t>
            </a:r>
          </a:p>
          <a:p>
            <a:endParaRPr lang="en-US" dirty="0"/>
          </a:p>
        </p:txBody>
      </p:sp>
    </p:spTree>
    <p:extLst>
      <p:ext uri="{BB962C8B-B14F-4D97-AF65-F5344CB8AC3E}">
        <p14:creationId xmlns:p14="http://schemas.microsoft.com/office/powerpoint/2010/main" val="36214265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A1881A3-C34B-079A-DB09-381451C3F912}"/>
              </a:ext>
            </a:extLst>
          </p:cNvPr>
          <p:cNvSpPr>
            <a:spLocks noGrp="1"/>
          </p:cNvSpPr>
          <p:nvPr>
            <p:ph type="subTitle" idx="1"/>
          </p:nvPr>
        </p:nvSpPr>
        <p:spPr/>
        <p:txBody>
          <a:bodyPr/>
          <a:lstStyle/>
          <a:p>
            <a:endParaRPr lang="en-US"/>
          </a:p>
        </p:txBody>
      </p:sp>
      <p:sp>
        <p:nvSpPr>
          <p:cNvPr id="3" name="Title 2">
            <a:extLst>
              <a:ext uri="{FF2B5EF4-FFF2-40B4-BE49-F238E27FC236}">
                <a16:creationId xmlns:a16="http://schemas.microsoft.com/office/drawing/2014/main" id="{2FE39A80-9785-4079-D624-62E92DA31EC7}"/>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35355481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Slide Title</a:t>
            </a:r>
            <a:endParaRPr lang="en-US" dirty="0"/>
          </a:p>
        </p:txBody>
      </p:sp>
      <p:sp>
        <p:nvSpPr>
          <p:cNvPr id="3" name="Content Placeholder 2"/>
          <p:cNvSpPr>
            <a:spLocks noGrp="1"/>
          </p:cNvSpPr>
          <p:nvPr>
            <p:ph idx="1"/>
          </p:nvPr>
        </p:nvSpPr>
        <p:spPr/>
        <p:txBody>
          <a:bodyPr/>
          <a:lstStyle/>
          <a:p>
            <a:r>
              <a:rPr lang="en-US"/>
              <a:t>Make Effective Presentations</a:t>
            </a:r>
          </a:p>
          <a:p>
            <a:r>
              <a:rPr lang="en-US"/>
              <a:t>Using Awesome Backgrounds</a:t>
            </a:r>
          </a:p>
          <a:p>
            <a:r>
              <a:rPr lang="en-US"/>
              <a:t>Engage your Audience</a:t>
            </a:r>
          </a:p>
          <a:p>
            <a:r>
              <a:rPr lang="en-US"/>
              <a:t>Capture Audience Attention</a:t>
            </a:r>
          </a:p>
          <a:p>
            <a:endParaRPr lang="en-US"/>
          </a:p>
          <a:p>
            <a:endParaRPr lang="en-US" dirty="0"/>
          </a:p>
        </p:txBody>
      </p:sp>
    </p:spTree>
    <p:extLst>
      <p:ext uri="{BB962C8B-B14F-4D97-AF65-F5344CB8AC3E}">
        <p14:creationId xmlns:p14="http://schemas.microsoft.com/office/powerpoint/2010/main" val="41033094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Slide Title</a:t>
            </a:r>
            <a:endParaRPr lang="en-US" dirty="0"/>
          </a:p>
        </p:txBody>
      </p:sp>
      <p:sp>
        <p:nvSpPr>
          <p:cNvPr id="5" name="Content Placeholder 4"/>
          <p:cNvSpPr>
            <a:spLocks noGrp="1"/>
          </p:cNvSpPr>
          <p:nvPr>
            <p:ph idx="1"/>
          </p:nvPr>
        </p:nvSpPr>
        <p:spPr/>
        <p:txBody>
          <a:bodyPr/>
          <a:lstStyle/>
          <a:p>
            <a:r>
              <a:rPr lang="en-US"/>
              <a:t>Make Effective Presentations</a:t>
            </a:r>
          </a:p>
          <a:p>
            <a:r>
              <a:rPr lang="en-US"/>
              <a:t>Using Awesome Backgrounds</a:t>
            </a:r>
          </a:p>
          <a:p>
            <a:r>
              <a:rPr lang="en-US"/>
              <a:t>Engage your Audience</a:t>
            </a:r>
          </a:p>
          <a:p>
            <a:r>
              <a:rPr lang="en-US"/>
              <a:t>Capture Audience Attention</a:t>
            </a:r>
            <a:endParaRPr lang="en-US" dirty="0"/>
          </a:p>
        </p:txBody>
      </p:sp>
    </p:spTree>
    <p:extLst>
      <p:ext uri="{BB962C8B-B14F-4D97-AF65-F5344CB8AC3E}">
        <p14:creationId xmlns:p14="http://schemas.microsoft.com/office/powerpoint/2010/main" val="11016338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Slide Title</a:t>
            </a:r>
            <a:endParaRPr lang="en-US" dirty="0"/>
          </a:p>
        </p:txBody>
      </p:sp>
      <p:sp>
        <p:nvSpPr>
          <p:cNvPr id="5" name="Text Placeholder 4"/>
          <p:cNvSpPr>
            <a:spLocks noGrp="1"/>
          </p:cNvSpPr>
          <p:nvPr>
            <p:ph type="body" idx="1"/>
          </p:nvPr>
        </p:nvSpPr>
        <p:spPr/>
        <p:txBody>
          <a:bodyPr/>
          <a:lstStyle/>
          <a:p>
            <a:r>
              <a:rPr lang="en-US"/>
              <a:t>Product A</a:t>
            </a:r>
            <a:endParaRPr lang="en-US" dirty="0"/>
          </a:p>
        </p:txBody>
      </p:sp>
      <p:sp>
        <p:nvSpPr>
          <p:cNvPr id="6" name="Content Placeholder 5"/>
          <p:cNvSpPr>
            <a:spLocks noGrp="1"/>
          </p:cNvSpPr>
          <p:nvPr>
            <p:ph sz="half" idx="2"/>
          </p:nvPr>
        </p:nvSpPr>
        <p:spPr/>
        <p:txBody>
          <a:bodyPr/>
          <a:lstStyle/>
          <a:p>
            <a:r>
              <a:rPr lang="en-US"/>
              <a:t>Feature 1</a:t>
            </a:r>
          </a:p>
          <a:p>
            <a:r>
              <a:rPr lang="en-US"/>
              <a:t>Feature 2</a:t>
            </a:r>
          </a:p>
          <a:p>
            <a:r>
              <a:rPr lang="en-US"/>
              <a:t>Feature 3</a:t>
            </a:r>
            <a:endParaRPr lang="en-US" dirty="0"/>
          </a:p>
        </p:txBody>
      </p:sp>
      <p:sp>
        <p:nvSpPr>
          <p:cNvPr id="7" name="Text Placeholder 6"/>
          <p:cNvSpPr>
            <a:spLocks noGrp="1"/>
          </p:cNvSpPr>
          <p:nvPr>
            <p:ph type="body" sz="quarter" idx="3"/>
          </p:nvPr>
        </p:nvSpPr>
        <p:spPr/>
        <p:txBody>
          <a:bodyPr/>
          <a:lstStyle/>
          <a:p>
            <a:r>
              <a:rPr lang="en-US"/>
              <a:t>Product B</a:t>
            </a:r>
          </a:p>
        </p:txBody>
      </p:sp>
      <p:sp>
        <p:nvSpPr>
          <p:cNvPr id="8" name="Content Placeholder 7"/>
          <p:cNvSpPr>
            <a:spLocks noGrp="1"/>
          </p:cNvSpPr>
          <p:nvPr>
            <p:ph sz="quarter" idx="4"/>
          </p:nvPr>
        </p:nvSpPr>
        <p:spPr/>
        <p:txBody>
          <a:bodyPr/>
          <a:lstStyle/>
          <a:p>
            <a:r>
              <a:rPr lang="en-US"/>
              <a:t>Feature 1</a:t>
            </a:r>
          </a:p>
          <a:p>
            <a:r>
              <a:rPr lang="en-US"/>
              <a:t>Feature 2</a:t>
            </a:r>
          </a:p>
          <a:p>
            <a:r>
              <a:rPr lang="en-US"/>
              <a:t>Feature 3</a:t>
            </a:r>
          </a:p>
        </p:txBody>
      </p:sp>
    </p:spTree>
    <p:extLst>
      <p:ext uri="{BB962C8B-B14F-4D97-AF65-F5344CB8AC3E}">
        <p14:creationId xmlns:p14="http://schemas.microsoft.com/office/powerpoint/2010/main" val="41707837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0164" y="2371726"/>
            <a:ext cx="1463675" cy="392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100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4035</Words>
  <Application>Microsoft Office PowerPoint</Application>
  <PresentationFormat>On-screen Show (16:9)</PresentationFormat>
  <Paragraphs>250</Paragraphs>
  <Slides>66</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Natural Language Processing</vt:lpstr>
      <vt:lpstr>Introduction</vt:lpstr>
      <vt:lpstr>Components of NLP</vt:lpstr>
      <vt:lpstr>Natural Language Understanding</vt:lpstr>
      <vt:lpstr>Challenges for NLU</vt:lpstr>
      <vt:lpstr>Lexical Ambiguity</vt:lpstr>
      <vt:lpstr>Syntactical Ambiguity</vt:lpstr>
      <vt:lpstr>Natural Language Generation</vt:lpstr>
      <vt:lpstr>PowerPoint Presentation</vt:lpstr>
      <vt:lpstr>PowerPoint Presentation</vt:lpstr>
      <vt:lpstr>Phases of NLP</vt:lpstr>
      <vt:lpstr>1. Lexical and Morphological Analysis</vt:lpstr>
      <vt:lpstr>Key tasks in Lexical analysis</vt:lpstr>
      <vt:lpstr>Tokenization</vt:lpstr>
      <vt:lpstr>PowerPoint Presentation</vt:lpstr>
      <vt:lpstr>Tokenization Explained</vt:lpstr>
      <vt:lpstr>Types of Tokenization</vt:lpstr>
      <vt:lpstr>Types of Tokenization</vt:lpstr>
      <vt:lpstr>PowerPoint Presentation</vt:lpstr>
      <vt:lpstr>Basic Tokenization </vt:lpstr>
      <vt:lpstr>Character-Level Tokenization</vt:lpstr>
      <vt:lpstr>Byte-Pair Encoding Implementation</vt:lpstr>
      <vt:lpstr>Real-World Applications</vt:lpstr>
      <vt:lpstr>POS(Parts-Of-Speech) Tagging</vt:lpstr>
      <vt:lpstr>PowerPoint Presentation</vt:lpstr>
      <vt:lpstr>Key Concepts in POS Tagging</vt:lpstr>
      <vt:lpstr>Example of POS Tagging</vt:lpstr>
      <vt:lpstr>Working of POS Tagging</vt:lpstr>
      <vt:lpstr>Types of POS Tagging</vt:lpstr>
      <vt:lpstr>1. Rule-Based Tagging</vt:lpstr>
      <vt:lpstr>2. Transformation-Based Tagging (TBT)</vt:lpstr>
      <vt:lpstr>3. Statistical POS Tagging</vt:lpstr>
      <vt:lpstr>Implementing POS Tagging with NLTK</vt:lpstr>
      <vt:lpstr>Implementing POS Tagging with SpaCy</vt:lpstr>
      <vt:lpstr>Challenges of POS Tagging</vt:lpstr>
      <vt:lpstr>Example</vt:lpstr>
      <vt:lpstr>Importance of Lexical Analysis</vt:lpstr>
      <vt:lpstr>Morphological Analysis</vt:lpstr>
      <vt:lpstr>Key tasks in morphological analysis:</vt:lpstr>
      <vt:lpstr>Stemming</vt:lpstr>
      <vt:lpstr>PowerPoint Presentation</vt:lpstr>
      <vt:lpstr>Stemming</vt:lpstr>
      <vt:lpstr>Types of Stemmer in NLTK </vt:lpstr>
      <vt:lpstr>Lemmatization</vt:lpstr>
      <vt:lpstr>Importance of lemmatization</vt:lpstr>
      <vt:lpstr>Lemmatization Techniques </vt:lpstr>
      <vt:lpstr>2. Dictionary-Based Lemmatization</vt:lpstr>
      <vt:lpstr>3. Machine Learning-Based Lemmatization</vt:lpstr>
      <vt:lpstr>Implementation of Lemmatization in Python</vt:lpstr>
      <vt:lpstr>Importance of Morphological Analysis</vt:lpstr>
      <vt:lpstr>2. Syntactic Analysis (Parsing)</vt:lpstr>
      <vt:lpstr>Key components of syntactic analysis include:</vt:lpstr>
      <vt:lpstr>Example </vt:lpstr>
      <vt:lpstr>https://www.geeksforgeeks.org/nlp/understanding-semantic-analysis-nlp/</vt:lpstr>
      <vt:lpstr>3. Semantic Analysis </vt:lpstr>
      <vt:lpstr>4. Discourse Integration</vt:lpstr>
      <vt:lpstr>Key aspects of discourse integration:</vt:lpstr>
      <vt:lpstr>Example of Discourse Integration</vt:lpstr>
      <vt:lpstr>5. Pragmatic Analysis</vt:lpstr>
      <vt:lpstr>Key tasks in pragmatic analysis:</vt:lpstr>
      <vt:lpstr>Examples of Pragmatic Analysis</vt:lpstr>
      <vt:lpstr>PowerPoint Presentation</vt:lpstr>
      <vt:lpstr>Slide Title</vt:lpstr>
      <vt:lpstr>Slide Title</vt:lpstr>
      <vt:lpstr>Slide Title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2026-01-05T05:33:26Z</dcterms:modified>
</cp:coreProperties>
</file>